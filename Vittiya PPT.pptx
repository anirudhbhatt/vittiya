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18"/>
  </p:notesMasterIdLst>
  <p:sldIdLst>
    <p:sldId id="256" r:id="rId4"/>
    <p:sldId id="257" r:id="rId5"/>
    <p:sldId id="258" r:id="rId6"/>
    <p:sldId id="259" r:id="rId7"/>
    <p:sldId id="260" r:id="rId8"/>
    <p:sldId id="261" r:id="rId9"/>
    <p:sldId id="262" r:id="rId10"/>
    <p:sldId id="263" r:id="rId11"/>
    <p:sldId id="264" r:id="rId12"/>
    <p:sldId id="267" r:id="rId13"/>
    <p:sldId id="268" r:id="rId14"/>
    <p:sldId id="269" r:id="rId15"/>
    <p:sldId id="265" r:id="rId16"/>
    <p:sldId id="266" r:id="rId17"/>
    <p:sldId id="270" r:id="rId24"/>
    <p:sldId id="271" r:id="rId25"/>
    <p:sldId id="272" r:id="rId26"/>
    <p:sldId id="273" r:id="rId27"/>
    <p:sldId id="274" r:id="rId28"/>
    <p:sldId id="275" r:id="rId29"/>
    <p:sldId id="276" r:id="rId30"/>
    <p:sldId id="277" r:id="rId31"/>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1D1CE6-4196-4380-A8EA-CE2678E0AF9F}" v="26" dt="2026-08-20T18:22:34.8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2" d="100"/>
          <a:sy n="72" d="100"/>
        </p:scale>
        <p:origin x="432"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B4B7A4C4-B880-40D8-A05A-9A75C7C2CFA0}" type="datetimeFigureOut">
              <a:rPr lang="en-IN" smtClean="0"/>
              <a:t>20-08-2026</a:t>
            </a:fld>
            <a:endParaRPr lang="en-IN"/>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ACD87-02DA-4C58-87C4-9D76853938A1}" type="slidenum">
              <a:rPr lang="en-IN" smtClean="0"/>
              <a:t>‹#›</a:t>
            </a:fld>
            <a:endParaRPr lang="en-IN"/>
          </a:p>
        </p:txBody>
      </p:sp>
    </p:spTree>
    <p:extLst>
      <p:ext uri="{BB962C8B-B14F-4D97-AF65-F5344CB8AC3E}">
        <p14:creationId xmlns:p14="http://schemas.microsoft.com/office/powerpoint/2010/main" val="3067527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1ACD87-02DA-4C58-87C4-9D76853938A1}" type="slidenum">
              <a:rPr lang="en-IN" smtClean="0"/>
              <a:t>10</a:t>
            </a:fld>
            <a:endParaRPr lang="en-IN"/>
          </a:p>
        </p:txBody>
      </p:sp>
    </p:spTree>
    <p:extLst>
      <p:ext uri="{BB962C8B-B14F-4D97-AF65-F5344CB8AC3E}">
        <p14:creationId xmlns:p14="http://schemas.microsoft.com/office/powerpoint/2010/main" val="3993412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47B565A9-993C-431B-979D-3189A375E68D}"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DB5874E5-4821-49A5-9016-B01F9300FE31}" type="slidenum">
              <a:t>‹#›</a:t>
            </a:fld>
            <a:endParaRPr/>
          </a:p>
        </p:txBody>
      </p:sp>
      <p:sp>
        <p:nvSpPr>
          <p:cNvPr id="2"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9"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15AD56C1-6231-434E-9690-192CC4E52D34}"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264DE8FC-D8B8-4FFA-9DD5-AE93A63C5E2D}"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DA1E2747-A883-431D-8ACE-27D989A273DA}"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4F4EBC55-1021-4032-A5A6-E8A18F4FE222}"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605B9DE8-FB25-4239-868F-BA2224270679}"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2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2"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E32A683B-2D27-4B67-9649-935DF2390600}"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2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6"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DBC4BA01-4BA4-4A14-8201-BD5E9B769F36}"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28"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9"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1A0BD3AC-7501-413D-A364-867FEC160CE2}"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3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4"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C88A5D9A-92BC-4033-B940-6CF6B2558872}"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36"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7"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8"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9"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40"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41"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BCC0D9F7-3432-4AA2-BD54-23E81AE7880A}"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BB3F69D7-BAD5-48F2-B88A-6E359FF56C8A}"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49"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55C17B7F-D62C-487C-9030-D4F895864A55}"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51"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6A0BAA47-7A70-4114-9617-A6901E4BDD57}"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53"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4"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D199E681-D48B-4D55-A4E2-302C2F781090}"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CE7B6185-B519-4750-A303-D136C565D191}"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27EDE0DC-C57E-4719-B929-96664D6998D7}"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5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9"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0"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40186138-B287-4DEB-B0EA-F2D231A3C44E}"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6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4"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159A46CD-7A0C-44B2-8D3F-AFE77FE4BE37}"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6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8"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87B4C3CB-68C9-453B-BF5A-247D9A5D8003}"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70"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1"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28D3E37F-50C2-4FCF-97CC-B4A80AA2C7CB}"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7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5"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6"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70F4C4C6-CF81-495B-A44C-84AD3DEA11BE}" type="slidenum">
              <a:t>‹#›</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78"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9"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80"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81"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82"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83"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AA47C1FC-9785-4D6C-B157-DC41EE939D85}" type="slidenum">
              <a:t>‹#›</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00B605CA-C627-4DBD-B7E1-731A9B465084}"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91"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8D35C247-646D-4047-8FD1-EF6FA77F016E}" type="slidenum">
              <a:t>‹#›</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93"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CE63898B-DCE8-4E01-91EA-2F141617F674}" type="slidenum">
              <a:t>‹#›</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9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9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118A684E-E677-4782-8D57-C9C1981047F9}" type="slidenum">
              <a:t>‹#›</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3AA36C47-9563-4730-AB8D-D69E3EAB9E4E}" type="slidenum">
              <a:t>‹#›</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8"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ADCDC844-FE07-4EEA-9600-6BE3EBFBDD28}" type="slidenum">
              <a:t>‹#›</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0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0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0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B4447A23-0EEC-4E1F-8AE5-35538F9BA3A7}"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04"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0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06"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7887DE6C-397F-4210-BC42-B467FBE1090B}"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0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0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10"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2F4BE1A1-1E5C-41BB-B91F-D6EB865CEDD2}"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12"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13"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AEA3E38B-7C12-40CB-8A04-852A0A43EA9F}" type="slidenum">
              <a:t>‹#›</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1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1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18"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 name="PlaceHolder 6"/>
          <p:cNvSpPr>
            <a:spLocks noGrp="1"/>
          </p:cNvSpPr>
          <p:nvPr>
            <p:ph type="ftr" idx="8"/>
          </p:nvPr>
        </p:nvSpPr>
        <p:spPr/>
        <p:txBody>
          <a:bodyPr/>
          <a:lstStyle/>
          <a:p>
            <a:r>
              <a:t>Footer</a:t>
            </a:r>
          </a:p>
        </p:txBody>
      </p:sp>
      <p:sp>
        <p:nvSpPr>
          <p:cNvPr id="8" name="PlaceHolder 7"/>
          <p:cNvSpPr>
            <a:spLocks noGrp="1"/>
          </p:cNvSpPr>
          <p:nvPr>
            <p:ph type="sldNum" idx="9"/>
          </p:nvPr>
        </p:nvSpPr>
        <p:spPr/>
        <p:txBody>
          <a:bodyPr/>
          <a:lstStyle/>
          <a:p>
            <a:fld id="{06264EB6-DEE2-4A45-94DB-D0CC15510BAF}" type="slidenum">
              <a:t>‹#›</a:t>
            </a:fld>
            <a:endParaRPr/>
          </a:p>
        </p:txBody>
      </p:sp>
      <p:sp>
        <p:nvSpPr>
          <p:cNvPr id="9" name="PlaceHolder 8"/>
          <p:cNvSpPr>
            <a:spLocks noGrp="1"/>
          </p:cNvSpPr>
          <p:nvPr>
            <p:ph type="dt" idx="7"/>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20"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21"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22"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23"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24"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25"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9" name="PlaceHolder 8"/>
          <p:cNvSpPr>
            <a:spLocks noGrp="1"/>
          </p:cNvSpPr>
          <p:nvPr>
            <p:ph type="ftr" idx="8"/>
          </p:nvPr>
        </p:nvSpPr>
        <p:spPr/>
        <p:txBody>
          <a:bodyPr/>
          <a:lstStyle/>
          <a:p>
            <a:r>
              <a:t>Footer</a:t>
            </a:r>
          </a:p>
        </p:txBody>
      </p:sp>
      <p:sp>
        <p:nvSpPr>
          <p:cNvPr id="10" name="PlaceHolder 9"/>
          <p:cNvSpPr>
            <a:spLocks noGrp="1"/>
          </p:cNvSpPr>
          <p:nvPr>
            <p:ph type="sldNum" idx="9"/>
          </p:nvPr>
        </p:nvSpPr>
        <p:spPr/>
        <p:txBody>
          <a:bodyPr/>
          <a:lstStyle/>
          <a:p>
            <a:fld id="{8743A51E-A27F-4A52-A34F-47AFD0499FCA}" type="slidenum">
              <a:t>‹#›</a:t>
            </a:fld>
            <a:endParaRPr/>
          </a:p>
        </p:txBody>
      </p:sp>
      <p:sp>
        <p:nvSpPr>
          <p:cNvPr id="11" name="PlaceHolder 10"/>
          <p:cNvSpPr>
            <a:spLocks noGrp="1"/>
          </p:cNvSpPr>
          <p:nvPr>
            <p:ph type="dt" idx="7"/>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eg"/><Relationship Id="rId15"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 Id="rId14" Type="http://schemas.openxmlformats.org/officeDocument/2006/relationships/image" Target="../media/image3.jpeg"/><Relationship Id="rId15"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3.xml"/><Relationship Id="rId14" Type="http://schemas.openxmlformats.org/officeDocument/2006/relationships/image" Target="../media/image4.jpeg"/><Relationship Id="rId15"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6" name="PlaceHolder 1"/>
          <p:cNvSpPr>
            <a:spLocks noGrp="1"/>
          </p:cNvSpPr>
          <p:nvPr>
            <p:ph type="dt" idx="1"/>
          </p:nvPr>
        </p:nvSpPr>
        <p:spPr>
          <a:xfrm>
            <a:off x="609480" y="6356520"/>
            <a:ext cx="2844360" cy="364680"/>
          </a:xfrm>
          <a:prstGeom prst="rect">
            <a:avLst/>
          </a:prstGeom>
          <a:noFill/>
          <a:ln w="0">
            <a:noFill/>
          </a:ln>
        </p:spPr>
        <p:txBody>
          <a:bodyPr anchor="ctr">
            <a:noAutofit/>
          </a:bodyPr>
          <a:lstStyle>
            <a:lvl1pPr>
              <a:lnSpc>
                <a:spcPct val="100000"/>
              </a:lnSpc>
              <a:buNone/>
              <a:defRPr lang="en-US" sz="1200" b="0" strike="noStrike" spc="-1">
                <a:solidFill>
                  <a:srgbClr val="8B8B8B"/>
                </a:solidFill>
                <a:latin typeface="Calibri"/>
              </a:defRPr>
            </a:lvl1pPr>
          </a:lstStyle>
          <a:p>
            <a:pPr>
              <a:lnSpc>
                <a:spcPct val="100000"/>
              </a:lnSpc>
              <a:buNone/>
            </a:pPr>
            <a:r>
              <a:rPr lang="en-US" sz="1200" b="0" strike="noStrike" spc="-1">
                <a:solidFill>
                  <a:srgbClr val="8B8B8B"/>
                </a:solidFill>
                <a:latin typeface="Calibri"/>
              </a:rPr>
              <a:t>&lt;date/time&gt;</a:t>
            </a:r>
            <a:endParaRPr lang="en-IN" sz="1200" b="0" strike="noStrike" spc="-1">
              <a:latin typeface="Times New Roman"/>
            </a:endParaRPr>
          </a:p>
        </p:txBody>
      </p:sp>
      <p:sp>
        <p:nvSpPr>
          <p:cNvPr id="7" name="PlaceHolder 2"/>
          <p:cNvSpPr>
            <a:spLocks noGrp="1"/>
          </p:cNvSpPr>
          <p:nvPr>
            <p:ph type="ftr" idx="2"/>
          </p:nvPr>
        </p:nvSpPr>
        <p:spPr>
          <a:xfrm>
            <a:off x="4165560" y="6356520"/>
            <a:ext cx="3860280" cy="364680"/>
          </a:xfrm>
          <a:prstGeom prst="rect">
            <a:avLst/>
          </a:prstGeom>
          <a:noFill/>
          <a:ln w="0">
            <a:noFill/>
          </a:ln>
        </p:spPr>
        <p:txBody>
          <a:bodyPr anchor="ctr">
            <a:noAutofit/>
          </a:bodyPr>
          <a:lstStyle>
            <a:lvl1pPr algn="ctr">
              <a:buNone/>
              <a:defRPr lang="en-IN" sz="1400" b="0" strike="noStrike" spc="-1">
                <a:latin typeface="Times New Roman"/>
              </a:defRPr>
            </a:lvl1pPr>
          </a:lstStyle>
          <a:p>
            <a:pPr algn="ctr">
              <a:buNone/>
            </a:pPr>
            <a:r>
              <a:rPr lang="en-IN" sz="1400" b="0" strike="noStrike" spc="-1">
                <a:latin typeface="Times New Roman"/>
              </a:rPr>
              <a:t>&lt;footer&gt;</a:t>
            </a:r>
          </a:p>
        </p:txBody>
      </p:sp>
      <p:sp>
        <p:nvSpPr>
          <p:cNvPr id="2" name="PlaceHolder 3"/>
          <p:cNvSpPr>
            <a:spLocks noGrp="1"/>
          </p:cNvSpPr>
          <p:nvPr>
            <p:ph type="sldNum" idx="3"/>
          </p:nvPr>
        </p:nvSpPr>
        <p:spPr>
          <a:xfrm>
            <a:off x="8737560" y="6356520"/>
            <a:ext cx="2844360" cy="364680"/>
          </a:xfrm>
          <a:prstGeom prst="rect">
            <a:avLst/>
          </a:prstGeom>
          <a:noFill/>
          <a:ln w="0">
            <a:noFill/>
          </a:ln>
        </p:spPr>
        <p:txBody>
          <a:bodyPr anchor="ctr">
            <a:noAutofit/>
          </a:bodyPr>
          <a:lstStyle>
            <a:lvl1pPr algn="r">
              <a:lnSpc>
                <a:spcPct val="100000"/>
              </a:lnSpc>
              <a:buNone/>
              <a:defRPr lang="en-US" sz="1200" b="0" strike="noStrike" spc="-1">
                <a:solidFill>
                  <a:srgbClr val="8B8B8B"/>
                </a:solidFill>
                <a:latin typeface="Calibri"/>
              </a:defRPr>
            </a:lvl1pPr>
          </a:lstStyle>
          <a:p>
            <a:pPr algn="r">
              <a:lnSpc>
                <a:spcPct val="100000"/>
              </a:lnSpc>
              <a:buNone/>
            </a:pPr>
            <a:fld id="{CE8510C1-2448-4775-A45F-EE04738A8FFE}" type="slidenum">
              <a:rPr lang="en-US" sz="1200" b="0" strike="noStrike" spc="-1">
                <a:solidFill>
                  <a:srgbClr val="8B8B8B"/>
                </a:solidFill>
                <a:latin typeface="Calibri"/>
              </a:rPr>
              <a:t>‹#›</a:t>
            </a:fld>
            <a:endParaRPr lang="en-IN" sz="1200" b="0" strike="noStrike" spc="-1">
              <a:latin typeface="Times New Roman"/>
            </a:endParaRP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1900" b="0" strike="noStrike" spc="-1">
                <a:solidFill>
                  <a:srgbClr val="000000"/>
                </a:solidFill>
                <a:latin typeface="Calibri"/>
              </a:rPr>
              <a:t>Click to edit the title text format</a:t>
            </a: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pic>
        <p:nvPicPr>
          <p:cNvPr id="5" name="Picture 4"/>
          <p:cNvPicPr/>
          <p:nvPr/>
        </p:nvPicPr>
        <p:blipFill>
          <a:blip r:embed="rId15"/>
          <a:stretch/>
        </p:blipFill>
        <p:spPr>
          <a:xfrm>
            <a:off x="3838680" y="2160000"/>
            <a:ext cx="4405320" cy="15375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42" name="PlaceHolder 1"/>
          <p:cNvSpPr>
            <a:spLocks noGrp="1"/>
          </p:cNvSpPr>
          <p:nvPr>
            <p:ph type="dt" idx="4"/>
          </p:nvPr>
        </p:nvSpPr>
        <p:spPr>
          <a:xfrm>
            <a:off x="609480" y="6356520"/>
            <a:ext cx="2844360" cy="364680"/>
          </a:xfrm>
          <a:prstGeom prst="rect">
            <a:avLst/>
          </a:prstGeom>
          <a:noFill/>
          <a:ln w="0">
            <a:noFill/>
          </a:ln>
        </p:spPr>
        <p:txBody>
          <a:bodyPr anchor="ctr">
            <a:noAutofit/>
          </a:bodyPr>
          <a:lstStyle>
            <a:lvl1pPr>
              <a:lnSpc>
                <a:spcPct val="100000"/>
              </a:lnSpc>
              <a:buNone/>
              <a:defRPr lang="en-US" sz="1200" b="0" strike="noStrike" spc="-1">
                <a:solidFill>
                  <a:srgbClr val="8B8B8B"/>
                </a:solidFill>
                <a:latin typeface="Calibri"/>
              </a:defRPr>
            </a:lvl1pPr>
          </a:lstStyle>
          <a:p>
            <a:pPr>
              <a:lnSpc>
                <a:spcPct val="100000"/>
              </a:lnSpc>
              <a:buNone/>
            </a:pPr>
            <a:r>
              <a:rPr lang="en-US" sz="1200" b="0" strike="noStrike" spc="-1">
                <a:solidFill>
                  <a:srgbClr val="8B8B8B"/>
                </a:solidFill>
                <a:latin typeface="Calibri"/>
              </a:rPr>
              <a:t>&lt;date/time&gt;</a:t>
            </a:r>
            <a:endParaRPr lang="en-IN" sz="1200" b="0" strike="noStrike" spc="-1">
              <a:latin typeface="Times New Roman"/>
            </a:endParaRPr>
          </a:p>
        </p:txBody>
      </p:sp>
      <p:sp>
        <p:nvSpPr>
          <p:cNvPr id="43" name="PlaceHolder 2"/>
          <p:cNvSpPr>
            <a:spLocks noGrp="1"/>
          </p:cNvSpPr>
          <p:nvPr>
            <p:ph type="ftr" idx="5"/>
          </p:nvPr>
        </p:nvSpPr>
        <p:spPr>
          <a:xfrm>
            <a:off x="4165560" y="6356520"/>
            <a:ext cx="3860280" cy="364680"/>
          </a:xfrm>
          <a:prstGeom prst="rect">
            <a:avLst/>
          </a:prstGeom>
          <a:noFill/>
          <a:ln w="0">
            <a:noFill/>
          </a:ln>
        </p:spPr>
        <p:txBody>
          <a:bodyPr anchor="ctr">
            <a:noAutofit/>
          </a:bodyPr>
          <a:lstStyle>
            <a:lvl1pPr algn="ctr">
              <a:buNone/>
              <a:defRPr lang="en-IN" sz="1400" b="0" strike="noStrike" spc="-1">
                <a:latin typeface="Times New Roman"/>
              </a:defRPr>
            </a:lvl1pPr>
          </a:lstStyle>
          <a:p>
            <a:pPr algn="ctr">
              <a:buNone/>
            </a:pPr>
            <a:r>
              <a:rPr lang="en-IN" sz="1400" b="0" strike="noStrike" spc="-1">
                <a:latin typeface="Times New Roman"/>
              </a:rPr>
              <a:t>&lt;footer&gt;</a:t>
            </a:r>
          </a:p>
        </p:txBody>
      </p:sp>
      <p:sp>
        <p:nvSpPr>
          <p:cNvPr id="44" name="PlaceHolder 3"/>
          <p:cNvSpPr>
            <a:spLocks noGrp="1"/>
          </p:cNvSpPr>
          <p:nvPr>
            <p:ph type="sldNum" idx="6"/>
          </p:nvPr>
        </p:nvSpPr>
        <p:spPr>
          <a:xfrm>
            <a:off x="8737560" y="6356520"/>
            <a:ext cx="2844360" cy="364680"/>
          </a:xfrm>
          <a:prstGeom prst="rect">
            <a:avLst/>
          </a:prstGeom>
          <a:noFill/>
          <a:ln w="0">
            <a:noFill/>
          </a:ln>
        </p:spPr>
        <p:txBody>
          <a:bodyPr anchor="ctr">
            <a:noAutofit/>
          </a:bodyPr>
          <a:lstStyle>
            <a:lvl1pPr algn="r">
              <a:lnSpc>
                <a:spcPct val="100000"/>
              </a:lnSpc>
              <a:buNone/>
              <a:defRPr lang="en-US" sz="1200" b="0" strike="noStrike" spc="-1">
                <a:solidFill>
                  <a:srgbClr val="8B8B8B"/>
                </a:solidFill>
                <a:latin typeface="Calibri"/>
              </a:defRPr>
            </a:lvl1pPr>
          </a:lstStyle>
          <a:p>
            <a:pPr algn="r">
              <a:lnSpc>
                <a:spcPct val="100000"/>
              </a:lnSpc>
              <a:buNone/>
            </a:pPr>
            <a:fld id="{B3622BF6-C1EF-49E2-A6E9-8DC057FE5E34}" type="slidenum">
              <a:rPr lang="en-US" sz="1200" b="0" strike="noStrike" spc="-1">
                <a:solidFill>
                  <a:srgbClr val="8B8B8B"/>
                </a:solidFill>
                <a:latin typeface="Calibri"/>
              </a:rPr>
              <a:t>‹#›</a:t>
            </a:fld>
            <a:endParaRPr lang="en-IN" sz="1200" b="0" strike="noStrike" spc="-1">
              <a:latin typeface="Times New Roman"/>
            </a:endParaRPr>
          </a:p>
        </p:txBody>
      </p:sp>
      <p:sp>
        <p:nvSpPr>
          <p:cNvPr id="45" name="PlaceHolder 4"/>
          <p:cNvSpPr>
            <a:spLocks noGrp="1"/>
          </p:cNvSpPr>
          <p:nvPr>
            <p:ph type="title"/>
          </p:nvPr>
        </p:nvSpPr>
        <p:spPr>
          <a:xfrm>
            <a:off x="0" y="2275920"/>
            <a:ext cx="12191760" cy="564480"/>
          </a:xfrm>
          <a:prstGeom prst="rect">
            <a:avLst/>
          </a:prstGeom>
          <a:noFill/>
          <a:ln w="0">
            <a:noFill/>
          </a:ln>
        </p:spPr>
        <p:txBody>
          <a:bodyPr anchor="ctr">
            <a:normAutofit fontScale="86000"/>
          </a:bodyPr>
          <a:lstStyle/>
          <a:p>
            <a:pPr algn="ctr">
              <a:lnSpc>
                <a:spcPct val="100000"/>
              </a:lnSpc>
              <a:buNone/>
            </a:pPr>
            <a:r>
              <a:rPr lang="en-US" sz="3600" b="0" strike="noStrike" spc="-1">
                <a:solidFill>
                  <a:srgbClr val="17375E"/>
                </a:solidFill>
                <a:latin typeface="Calibri"/>
              </a:rPr>
              <a:t>TITLE</a:t>
            </a:r>
            <a:endParaRPr lang="en-US" sz="3600" b="0" strike="noStrike" spc="-1">
              <a:solidFill>
                <a:srgbClr val="000000"/>
              </a:solidFill>
              <a:latin typeface="Calibri"/>
            </a:endParaRPr>
          </a:p>
        </p:txBody>
      </p:sp>
      <p:sp>
        <p:nvSpPr>
          <p:cNvPr id="4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pic>
        <p:nvPicPr>
          <p:cNvPr id="47" name="Picture 46"/>
          <p:cNvPicPr/>
          <p:nvPr/>
        </p:nvPicPr>
        <p:blipFill>
          <a:blip r:embed="rId15"/>
          <a:stretch/>
        </p:blipFill>
        <p:spPr>
          <a:xfrm>
            <a:off x="10260000" y="6011280"/>
            <a:ext cx="1681920" cy="5871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84" name="PlaceHolder 1"/>
          <p:cNvSpPr>
            <a:spLocks noGrp="1"/>
          </p:cNvSpPr>
          <p:nvPr>
            <p:ph type="dt" idx="7"/>
          </p:nvPr>
        </p:nvSpPr>
        <p:spPr>
          <a:xfrm>
            <a:off x="609480" y="6356520"/>
            <a:ext cx="2844360" cy="364680"/>
          </a:xfrm>
          <a:prstGeom prst="rect">
            <a:avLst/>
          </a:prstGeom>
          <a:noFill/>
          <a:ln w="0">
            <a:noFill/>
          </a:ln>
        </p:spPr>
        <p:txBody>
          <a:bodyPr anchor="ctr">
            <a:noAutofit/>
          </a:bodyPr>
          <a:lstStyle>
            <a:lvl1pPr>
              <a:lnSpc>
                <a:spcPct val="100000"/>
              </a:lnSpc>
              <a:buNone/>
              <a:defRPr lang="en-US" sz="1200" b="0" strike="noStrike" spc="-1">
                <a:solidFill>
                  <a:srgbClr val="8B8B8B"/>
                </a:solidFill>
                <a:latin typeface="Calibri"/>
              </a:defRPr>
            </a:lvl1pPr>
          </a:lstStyle>
          <a:p>
            <a:pPr>
              <a:lnSpc>
                <a:spcPct val="100000"/>
              </a:lnSpc>
              <a:buNone/>
            </a:pPr>
            <a:r>
              <a:rPr lang="en-US" sz="1200" b="0" strike="noStrike" spc="-1">
                <a:solidFill>
                  <a:srgbClr val="8B8B8B"/>
                </a:solidFill>
                <a:latin typeface="Calibri"/>
              </a:rPr>
              <a:t>&lt;date/time&gt;</a:t>
            </a:r>
            <a:endParaRPr lang="en-IN" sz="1200" b="0" strike="noStrike" spc="-1">
              <a:latin typeface="Times New Roman"/>
            </a:endParaRPr>
          </a:p>
        </p:txBody>
      </p:sp>
      <p:sp>
        <p:nvSpPr>
          <p:cNvPr id="85" name="PlaceHolder 2"/>
          <p:cNvSpPr>
            <a:spLocks noGrp="1"/>
          </p:cNvSpPr>
          <p:nvPr>
            <p:ph type="ftr" idx="8"/>
          </p:nvPr>
        </p:nvSpPr>
        <p:spPr>
          <a:xfrm>
            <a:off x="4165560" y="6356520"/>
            <a:ext cx="3860280" cy="364680"/>
          </a:xfrm>
          <a:prstGeom prst="rect">
            <a:avLst/>
          </a:prstGeom>
          <a:noFill/>
          <a:ln w="0">
            <a:noFill/>
          </a:ln>
        </p:spPr>
        <p:txBody>
          <a:bodyPr anchor="ctr">
            <a:noAutofit/>
          </a:bodyPr>
          <a:lstStyle>
            <a:lvl1pPr algn="ctr">
              <a:buNone/>
              <a:defRPr lang="en-IN" sz="1400" b="0" strike="noStrike" spc="-1">
                <a:latin typeface="Times New Roman"/>
              </a:defRPr>
            </a:lvl1pPr>
          </a:lstStyle>
          <a:p>
            <a:pPr algn="ctr">
              <a:buNone/>
            </a:pPr>
            <a:r>
              <a:rPr lang="en-IN" sz="1400" b="0" strike="noStrike" spc="-1">
                <a:latin typeface="Times New Roman"/>
              </a:rPr>
              <a:t>&lt;footer&gt;</a:t>
            </a:r>
          </a:p>
        </p:txBody>
      </p:sp>
      <p:sp>
        <p:nvSpPr>
          <p:cNvPr id="86" name="PlaceHolder 3"/>
          <p:cNvSpPr>
            <a:spLocks noGrp="1"/>
          </p:cNvSpPr>
          <p:nvPr>
            <p:ph type="sldNum" idx="9"/>
          </p:nvPr>
        </p:nvSpPr>
        <p:spPr>
          <a:xfrm>
            <a:off x="8737560" y="6356520"/>
            <a:ext cx="2844360" cy="364680"/>
          </a:xfrm>
          <a:prstGeom prst="rect">
            <a:avLst/>
          </a:prstGeom>
          <a:noFill/>
          <a:ln w="0">
            <a:noFill/>
          </a:ln>
        </p:spPr>
        <p:txBody>
          <a:bodyPr anchor="ctr">
            <a:noAutofit/>
          </a:bodyPr>
          <a:lstStyle>
            <a:lvl1pPr algn="r">
              <a:lnSpc>
                <a:spcPct val="100000"/>
              </a:lnSpc>
              <a:buNone/>
              <a:defRPr lang="en-US" sz="1200" b="0" strike="noStrike" spc="-1">
                <a:solidFill>
                  <a:srgbClr val="8B8B8B"/>
                </a:solidFill>
                <a:latin typeface="Calibri"/>
              </a:defRPr>
            </a:lvl1pPr>
          </a:lstStyle>
          <a:p>
            <a:pPr algn="r">
              <a:lnSpc>
                <a:spcPct val="100000"/>
              </a:lnSpc>
              <a:buNone/>
            </a:pPr>
            <a:fld id="{B4412AF1-E513-4153-8A8C-B9990C0B2C5B}" type="slidenum">
              <a:rPr lang="en-US" sz="1200" b="0" strike="noStrike" spc="-1">
                <a:solidFill>
                  <a:srgbClr val="8B8B8B"/>
                </a:solidFill>
                <a:latin typeface="Calibri"/>
              </a:rPr>
              <a:t>‹#›</a:t>
            </a:fld>
            <a:endParaRPr lang="en-IN" sz="1200" b="0" strike="noStrike" spc="-1">
              <a:latin typeface="Times New Roman"/>
            </a:endParaRPr>
          </a:p>
        </p:txBody>
      </p:sp>
      <p:pic>
        <p:nvPicPr>
          <p:cNvPr id="87" name="Picture 86"/>
          <p:cNvPicPr/>
          <p:nvPr/>
        </p:nvPicPr>
        <p:blipFill>
          <a:blip r:embed="rId15"/>
          <a:stretch/>
        </p:blipFill>
        <p:spPr>
          <a:xfrm>
            <a:off x="4653720" y="3888000"/>
            <a:ext cx="2784240" cy="972000"/>
          </a:xfrm>
          <a:prstGeom prst="rect">
            <a:avLst/>
          </a:prstGeom>
          <a:ln w="0">
            <a:noFill/>
          </a:ln>
        </p:spPr>
      </p:pic>
      <p:sp>
        <p:nvSpPr>
          <p:cNvPr id="88"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1900" b="0" strike="noStrike" spc="-1">
                <a:solidFill>
                  <a:srgbClr val="000000"/>
                </a:solidFill>
                <a:latin typeface="Calibri"/>
              </a:rPr>
              <a:t>Click to edit the title text format</a:t>
            </a:r>
          </a:p>
        </p:txBody>
      </p:sp>
      <p:sp>
        <p:nvSpPr>
          <p:cNvPr id="89"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0" y="2137680"/>
            <a:ext cx="12192000" cy="2196576"/>
          </a:xfrm>
          <a:prstGeom prst="rect">
            <a:avLst/>
          </a:prstGeom>
          <a:noFill/>
          <a:ln w="0">
            <a:noFill/>
          </a:ln>
        </p:spPr>
        <p:txBody>
          <a:bodyPr anchor="ctr">
            <a:normAutofit fontScale="90000"/>
          </a:bodyPr>
          <a:lstStyle/>
          <a:p>
            <a:pPr algn="ctr">
              <a:lnSpc>
                <a:spcPct val="100000"/>
              </a:lnSpc>
            </a:pPr>
            <a:r>
              <a:rPr lang="en-IN" b="1" dirty="0">
                <a:latin typeface="Times New Roman" panose="02020603050405020304" pitchFamily="18" charset="0"/>
                <a:cs typeface="Times New Roman" panose="02020603050405020304" pitchFamily="18" charset="0"/>
              </a:rPr>
              <a:t>VITTIYA: AI-Powered Real-Time Financial Intelligence, Causal Risk Analytics &amp; Institutional Market Terminal</a:t>
            </a:r>
            <a:br>
              <a:rPr lang="en-IN" dirty="0">
                <a:latin typeface="Times New Roman" panose="02020603050405020304" pitchFamily="18" charset="0"/>
                <a:cs typeface="Times New Roman" panose="02020603050405020304" pitchFamily="18" charset="0"/>
              </a:rPr>
            </a:br>
            <a:endParaRPr lang="en-US" sz="36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27" name="CustomShape 2"/>
          <p:cNvSpPr/>
          <p:nvPr/>
        </p:nvSpPr>
        <p:spPr>
          <a:xfrm>
            <a:off x="389159" y="4606920"/>
            <a:ext cx="5537187" cy="181442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n-US" sz="1400" b="1" strike="noStrike" spc="-1" dirty="0">
                <a:solidFill>
                  <a:srgbClr val="000000"/>
                </a:solidFill>
                <a:latin typeface="Times New Roman"/>
              </a:rPr>
              <a:t>SUBMITTED BY:-</a:t>
            </a:r>
          </a:p>
          <a:p>
            <a:pPr lvl="0"/>
            <a:r>
              <a:rPr lang="en-IN" sz="1400" b="1" dirty="0">
                <a:latin typeface="Times New Roman" panose="02020603050405020304" pitchFamily="18" charset="0"/>
                <a:cs typeface="Times New Roman" panose="02020603050405020304" pitchFamily="18" charset="0"/>
              </a:rPr>
              <a:t>Anirudh Bhatt </a:t>
            </a:r>
            <a:r>
              <a:rPr lang="en-IN" sz="1400" dirty="0">
                <a:latin typeface="Times New Roman" panose="02020603050405020304" pitchFamily="18" charset="0"/>
                <a:cs typeface="Times New Roman" panose="02020603050405020304" pitchFamily="18" charset="0"/>
              </a:rPr>
              <a:t>| 500119692 | </a:t>
            </a:r>
            <a:r>
              <a:rPr lang="en-IN" sz="1400" dirty="0" err="1">
                <a:latin typeface="Times New Roman" panose="02020603050405020304" pitchFamily="18" charset="0"/>
                <a:cs typeface="Times New Roman" panose="02020603050405020304" pitchFamily="18" charset="0"/>
              </a:rPr>
              <a:t>B.Tech</a:t>
            </a:r>
            <a:r>
              <a:rPr lang="en-IN" sz="1400" dirty="0">
                <a:latin typeface="Times New Roman" panose="02020603050405020304" pitchFamily="18" charset="0"/>
                <a:cs typeface="Times New Roman" panose="02020603050405020304" pitchFamily="18" charset="0"/>
              </a:rPr>
              <a:t> CSE (Full Stack Development)</a:t>
            </a:r>
          </a:p>
          <a:p>
            <a:pPr lvl="0"/>
            <a:r>
              <a:rPr lang="en-IN" sz="1400" b="1" dirty="0">
                <a:latin typeface="Times New Roman" panose="02020603050405020304" pitchFamily="18" charset="0"/>
                <a:cs typeface="Times New Roman" panose="02020603050405020304" pitchFamily="18" charset="0"/>
              </a:rPr>
              <a:t>Himanshu </a:t>
            </a:r>
            <a:r>
              <a:rPr lang="en-IN" sz="1400" b="1" dirty="0" err="1">
                <a:latin typeface="Times New Roman" panose="02020603050405020304" pitchFamily="18" charset="0"/>
                <a:cs typeface="Times New Roman" panose="02020603050405020304" pitchFamily="18" charset="0"/>
              </a:rPr>
              <a:t>Kadyan</a:t>
            </a:r>
            <a:r>
              <a:rPr lang="en-IN" sz="1400" b="1"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 500124212 | </a:t>
            </a:r>
            <a:r>
              <a:rPr lang="en-IN" sz="1400" dirty="0" err="1">
                <a:latin typeface="Times New Roman" panose="02020603050405020304" pitchFamily="18" charset="0"/>
                <a:cs typeface="Times New Roman" panose="02020603050405020304" pitchFamily="18" charset="0"/>
              </a:rPr>
              <a:t>B.Tech</a:t>
            </a:r>
            <a:r>
              <a:rPr lang="en-IN" sz="1400" dirty="0">
                <a:latin typeface="Times New Roman" panose="02020603050405020304" pitchFamily="18" charset="0"/>
                <a:cs typeface="Times New Roman" panose="02020603050405020304" pitchFamily="18" charset="0"/>
              </a:rPr>
              <a:t> CSE (Full Stack Development)</a:t>
            </a:r>
          </a:p>
          <a:p>
            <a:pPr lvl="0"/>
            <a:r>
              <a:rPr lang="en-IN" sz="1400" b="1" dirty="0">
                <a:latin typeface="Times New Roman" panose="02020603050405020304" pitchFamily="18" charset="0"/>
                <a:cs typeface="Times New Roman" panose="02020603050405020304" pitchFamily="18" charset="0"/>
              </a:rPr>
              <a:t>Ishita Pradhan </a:t>
            </a:r>
            <a:r>
              <a:rPr lang="en-IN" sz="1400" dirty="0">
                <a:latin typeface="Times New Roman" panose="02020603050405020304" pitchFamily="18" charset="0"/>
                <a:cs typeface="Times New Roman" panose="02020603050405020304" pitchFamily="18" charset="0"/>
              </a:rPr>
              <a:t>| 500119414 | </a:t>
            </a:r>
            <a:r>
              <a:rPr lang="en-IN" sz="1400" dirty="0" err="1">
                <a:latin typeface="Times New Roman" panose="02020603050405020304" pitchFamily="18" charset="0"/>
                <a:cs typeface="Times New Roman" panose="02020603050405020304" pitchFamily="18" charset="0"/>
              </a:rPr>
              <a:t>B.Tech</a:t>
            </a:r>
            <a:r>
              <a:rPr lang="en-IN" sz="1400" dirty="0">
                <a:latin typeface="Times New Roman" panose="02020603050405020304" pitchFamily="18" charset="0"/>
                <a:cs typeface="Times New Roman" panose="02020603050405020304" pitchFamily="18" charset="0"/>
              </a:rPr>
              <a:t> CSE (Full Stack Development)</a:t>
            </a:r>
          </a:p>
          <a:p>
            <a:pPr lvl="0"/>
            <a:r>
              <a:rPr lang="en-IN" sz="1400" b="1" dirty="0">
                <a:latin typeface="Times New Roman" panose="02020603050405020304" pitchFamily="18" charset="0"/>
                <a:cs typeface="Times New Roman" panose="02020603050405020304" pitchFamily="18" charset="0"/>
              </a:rPr>
              <a:t>Pranav Rai </a:t>
            </a:r>
            <a:r>
              <a:rPr lang="en-IN" sz="1400" dirty="0">
                <a:latin typeface="Times New Roman" panose="02020603050405020304" pitchFamily="18" charset="0"/>
                <a:cs typeface="Times New Roman" panose="02020603050405020304" pitchFamily="18" charset="0"/>
              </a:rPr>
              <a:t>| 500124723 | </a:t>
            </a:r>
            <a:r>
              <a:rPr lang="en-IN" sz="1400" dirty="0" err="1">
                <a:latin typeface="Times New Roman" panose="02020603050405020304" pitchFamily="18" charset="0"/>
                <a:cs typeface="Times New Roman" panose="02020603050405020304" pitchFamily="18" charset="0"/>
              </a:rPr>
              <a:t>B.Tech</a:t>
            </a:r>
            <a:r>
              <a:rPr lang="en-IN" sz="1400" dirty="0">
                <a:latin typeface="Times New Roman" panose="02020603050405020304" pitchFamily="18" charset="0"/>
                <a:cs typeface="Times New Roman" panose="02020603050405020304" pitchFamily="18" charset="0"/>
              </a:rPr>
              <a:t> CSE (Full Stack Development)</a:t>
            </a:r>
          </a:p>
          <a:p>
            <a:pPr>
              <a:lnSpc>
                <a:spcPct val="100000"/>
              </a:lnSpc>
              <a:buNone/>
            </a:pPr>
            <a:endParaRPr lang="en-US" sz="1400" b="1" strike="noStrike" spc="-1" dirty="0">
              <a:solidFill>
                <a:srgbClr val="000000"/>
              </a:solidFill>
              <a:latin typeface="Times New Roman"/>
            </a:endParaRPr>
          </a:p>
          <a:p>
            <a:pPr>
              <a:lnSpc>
                <a:spcPct val="100000"/>
              </a:lnSpc>
              <a:buNone/>
            </a:pPr>
            <a:endParaRPr lang="en-US" sz="1400" b="1" strike="noStrike" spc="-1" dirty="0">
              <a:solidFill>
                <a:srgbClr val="000000"/>
              </a:solidFill>
              <a:latin typeface="Times New Roman"/>
            </a:endParaRPr>
          </a:p>
          <a:p>
            <a:pPr>
              <a:lnSpc>
                <a:spcPct val="100000"/>
              </a:lnSpc>
              <a:buNone/>
            </a:pPr>
            <a:endParaRPr lang="en-IN" sz="1400" b="0" strike="noStrike" spc="-1" dirty="0">
              <a:latin typeface="Arial"/>
            </a:endParaRPr>
          </a:p>
        </p:txBody>
      </p:sp>
      <p:sp>
        <p:nvSpPr>
          <p:cNvPr id="128" name="CustomShape 3"/>
          <p:cNvSpPr/>
          <p:nvPr/>
        </p:nvSpPr>
        <p:spPr>
          <a:xfrm>
            <a:off x="7816680" y="4899240"/>
            <a:ext cx="3832200" cy="95265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buNone/>
            </a:pPr>
            <a:r>
              <a:rPr lang="en-US" sz="1400" b="1" strike="noStrike" spc="-1" dirty="0">
                <a:solidFill>
                  <a:srgbClr val="000000"/>
                </a:solidFill>
                <a:latin typeface="Times New Roman"/>
              </a:rPr>
              <a:t>MENTORED BY:-</a:t>
            </a:r>
            <a:endParaRPr lang="en-IN" sz="1400" b="0" strike="noStrike" spc="-1" dirty="0">
              <a:latin typeface="Arial"/>
            </a:endParaRPr>
          </a:p>
          <a:p>
            <a:pPr algn="r">
              <a:lnSpc>
                <a:spcPct val="100000"/>
              </a:lnSpc>
              <a:buNone/>
            </a:pPr>
            <a:r>
              <a:rPr lang="en-IN" sz="1400" dirty="0">
                <a:latin typeface="Times New Roman" panose="02020603050405020304" pitchFamily="18" charset="0"/>
                <a:cs typeface="Times New Roman" panose="02020603050405020304" pitchFamily="18" charset="0"/>
              </a:rPr>
              <a:t>Dr. Adeeb Mansoor Ansari </a:t>
            </a:r>
          </a:p>
          <a:p>
            <a:pPr algn="r">
              <a:lnSpc>
                <a:spcPct val="100000"/>
              </a:lnSpc>
              <a:buNone/>
            </a:pPr>
            <a:r>
              <a:rPr lang="en-IN" sz="1400" dirty="0">
                <a:latin typeface="Times New Roman" panose="02020603050405020304" pitchFamily="18" charset="0"/>
                <a:cs typeface="Times New Roman" panose="02020603050405020304" pitchFamily="18" charset="0"/>
              </a:rPr>
              <a:t>Department of Computer Science &amp; Engineering School of Computer Science</a:t>
            </a:r>
            <a:endParaRPr lang="en-IN" sz="1400" b="0" strike="noStrike" spc="-1" dirty="0">
              <a:latin typeface="Times New Roman" panose="02020603050405020304" pitchFamily="18" charset="0"/>
              <a:cs typeface="Times New Roman" panose="02020603050405020304" pitchFamily="18" charset="0"/>
            </a:endParaRPr>
          </a:p>
        </p:txBody>
      </p:sp>
      <p:sp>
        <p:nvSpPr>
          <p:cNvPr id="129" name="Title 1"/>
          <p:cNvSpPr/>
          <p:nvPr/>
        </p:nvSpPr>
        <p:spPr>
          <a:xfrm>
            <a:off x="0" y="398880"/>
            <a:ext cx="12191760" cy="5644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buNone/>
              <a:tabLst>
                <a:tab pos="0" algn="l"/>
              </a:tabLst>
            </a:pPr>
            <a:r>
              <a:rPr lang="en-GB" sz="3400" b="0" strike="noStrike" spc="-1" dirty="0">
                <a:solidFill>
                  <a:srgbClr val="000000"/>
                </a:solidFill>
                <a:latin typeface="Times New Roman" panose="02020603050405020304" pitchFamily="18" charset="0"/>
                <a:cs typeface="Times New Roman" panose="02020603050405020304" pitchFamily="18" charset="0"/>
              </a:rPr>
              <a:t>Minor Project Synopsis Presentation</a:t>
            </a:r>
            <a:endParaRPr lang="en-IN" sz="3400" b="0" strike="noStrike" spc="-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extShape 1"/>
          <p:cNvSpPr/>
          <p:nvPr/>
        </p:nvSpPr>
        <p:spPr>
          <a:xfrm>
            <a:off x="533520" y="426960"/>
            <a:ext cx="10972080" cy="11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buNone/>
            </a:pPr>
            <a:r>
              <a:rPr lang="en-US" sz="4000" b="0" strike="noStrike" spc="-1" dirty="0">
                <a:solidFill>
                  <a:srgbClr val="000000"/>
                </a:solidFill>
                <a:latin typeface="Times New Roman" panose="02020603050405020304" pitchFamily="18" charset="0"/>
                <a:cs typeface="Times New Roman" panose="02020603050405020304" pitchFamily="18" charset="0"/>
              </a:rPr>
              <a:t>Abstract</a:t>
            </a:r>
            <a:endParaRPr lang="en-IN" sz="4000" b="0" strike="noStrike" spc="-1" dirty="0">
              <a:latin typeface="Times New Roman" panose="02020603050405020304" pitchFamily="18" charset="0"/>
              <a:cs typeface="Times New Roman" panose="02020603050405020304" pitchFamily="18" charset="0"/>
            </a:endParaRPr>
          </a:p>
        </p:txBody>
      </p:sp>
      <p:sp>
        <p:nvSpPr>
          <p:cNvPr id="131" name="TextShape 2"/>
          <p:cNvSpPr/>
          <p:nvPr/>
        </p:nvSpPr>
        <p:spPr>
          <a:xfrm>
            <a:off x="549000" y="1326600"/>
            <a:ext cx="10972080" cy="4525200"/>
          </a:xfrm>
          <a:prstGeom prst="rect">
            <a:avLst/>
          </a:prstGeom>
          <a:noFill/>
          <a:ln w="0">
            <a:noFill/>
          </a:ln>
        </p:spPr>
        <p:style>
          <a:lnRef idx="0">
            <a:scrgbClr r="0" g="0" b="0"/>
          </a:lnRef>
          <a:fillRef idx="0">
            <a:scrgbClr r="0" g="0" b="0"/>
          </a:fillRef>
          <a:effectRef idx="0">
            <a:scrgbClr r="0" g="0" b="0"/>
          </a:effectRef>
          <a:fontRef idx="minor"/>
        </p:style>
      </p:sp>
      <p:sp>
        <p:nvSpPr>
          <p:cNvPr id="2" name="TextBox 1">
            <a:extLst>
              <a:ext uri="{FF2B5EF4-FFF2-40B4-BE49-F238E27FC236}">
                <a16:creationId xmlns:a16="http://schemas.microsoft.com/office/drawing/2014/main" id="{8976D41E-CB83-4CD9-1B34-5EEDCFEF56F0}"/>
              </a:ext>
            </a:extLst>
          </p:cNvPr>
          <p:cNvSpPr txBox="1"/>
          <p:nvPr/>
        </p:nvSpPr>
        <p:spPr>
          <a:xfrm>
            <a:off x="1295728" y="1569240"/>
            <a:ext cx="9600544" cy="3477875"/>
          </a:xfrm>
          <a:prstGeom prst="rect">
            <a:avLst/>
          </a:prstGeom>
          <a:noFill/>
        </p:spPr>
        <p:txBody>
          <a:bodyPr wrap="square" rtlCol="0">
            <a:spAutoFit/>
          </a:bodyPr>
          <a:lstStyle/>
          <a:p>
            <a:pPr lvl="0"/>
            <a:r>
              <a:rPr lang="en-IN" sz="2000" dirty="0">
                <a:latin typeface="Times New Roman" panose="02020603050405020304" pitchFamily="18" charset="0"/>
                <a:cs typeface="Times New Roman" panose="02020603050405020304" pitchFamily="18" charset="0"/>
              </a:rPr>
              <a:t>VITTIYA is a full-stack, high-frequency financial market terminal combining real-time market data streaming, Directed Acyclic Graph (DAG) causal risk analytics, and institutional IPO tracking.</a:t>
            </a:r>
          </a:p>
          <a:p>
            <a:pPr lvl="0"/>
            <a:r>
              <a:rPr lang="en-IN" sz="2000" dirty="0">
                <a:latin typeface="Times New Roman" panose="02020603050405020304" pitchFamily="18" charset="0"/>
                <a:cs typeface="Times New Roman" panose="02020603050405020304" pitchFamily="18" charset="0"/>
              </a:rPr>
              <a:t>It addresses three critical market vulnerabilities: data latency (15-minute delays), numerical string-formatting corruption in price feeds, and absence of non-linear causal risk </a:t>
            </a:r>
            <a:r>
              <a:rPr lang="en-IN" sz="2000" dirty="0" err="1">
                <a:latin typeface="Times New Roman" panose="02020603050405020304" pitchFamily="18" charset="0"/>
                <a:cs typeface="Times New Roman" panose="02020603050405020304" pitchFamily="18" charset="0"/>
              </a:rPr>
              <a:t>modeling</a:t>
            </a:r>
            <a:r>
              <a:rPr lang="en-IN" sz="2000" dirty="0">
                <a:latin typeface="Times New Roman" panose="02020603050405020304" pitchFamily="18" charset="0"/>
                <a:cs typeface="Times New Roman" panose="02020603050405020304" pitchFamily="18" charset="0"/>
              </a:rPr>
              <a:t>.</a:t>
            </a:r>
          </a:p>
          <a:p>
            <a:pPr lvl="0"/>
            <a:r>
              <a:rPr lang="en-IN" sz="2000" dirty="0">
                <a:latin typeface="Times New Roman" panose="02020603050405020304" pitchFamily="18" charset="0"/>
                <a:cs typeface="Times New Roman" panose="02020603050405020304" pitchFamily="18" charset="0"/>
              </a:rPr>
              <a:t>It integrates Yahoo Finance v8 REST API with 8-second polling, regex-based numerical sanitization, Chittorgarh verified IPO tracking with live Grey Market Premiums (GMP), and generative financial reasoning capabilities.</a:t>
            </a:r>
          </a:p>
          <a:p>
            <a:pPr lvl="0"/>
            <a:r>
              <a:rPr lang="en-IN" sz="2000" dirty="0">
                <a:latin typeface="Times New Roman" panose="02020603050405020304" pitchFamily="18" charset="0"/>
                <a:cs typeface="Times New Roman" panose="02020603050405020304" pitchFamily="18" charset="0"/>
              </a:rPr>
              <a:t>It also serves four beneficiary classes: active retail traders, IPO applicants, enterprise portfolio managers, and quantitative financial analysts.</a:t>
            </a:r>
          </a:p>
          <a:p>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Shape 1"/>
          <p:cNvSpPr/>
          <p:nvPr/>
        </p:nvSpPr>
        <p:spPr>
          <a:xfrm>
            <a:off x="533520" y="426960"/>
            <a:ext cx="10972080" cy="11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buNone/>
            </a:pPr>
            <a:r>
              <a:rPr lang="en-US" sz="4000" b="0" strike="noStrike" spc="-1" dirty="0">
                <a:solidFill>
                  <a:srgbClr val="000000"/>
                </a:solidFill>
                <a:latin typeface="Times New Roman" panose="02020603050405020304" pitchFamily="18" charset="0"/>
                <a:cs typeface="Times New Roman" panose="02020603050405020304" pitchFamily="18" charset="0"/>
              </a:rPr>
              <a:t>Introduction</a:t>
            </a:r>
            <a:endParaRPr lang="en-IN" sz="4000" b="0" strike="noStrike" spc="-1" dirty="0">
              <a:latin typeface="Times New Roman" panose="02020603050405020304" pitchFamily="18" charset="0"/>
              <a:cs typeface="Times New Roman" panose="02020603050405020304" pitchFamily="18" charset="0"/>
            </a:endParaRPr>
          </a:p>
        </p:txBody>
      </p:sp>
      <p:sp>
        <p:nvSpPr>
          <p:cNvPr id="133" name="TextShape 2"/>
          <p:cNvSpPr/>
          <p:nvPr/>
        </p:nvSpPr>
        <p:spPr>
          <a:xfrm>
            <a:off x="549000" y="1326600"/>
            <a:ext cx="10972080" cy="4525200"/>
          </a:xfrm>
          <a:prstGeom prst="rect">
            <a:avLst/>
          </a:prstGeom>
          <a:noFill/>
          <a:ln w="0">
            <a:noFill/>
          </a:ln>
        </p:spPr>
        <p:style>
          <a:lnRef idx="0">
            <a:scrgbClr r="0" g="0" b="0"/>
          </a:lnRef>
          <a:fillRef idx="0">
            <a:scrgbClr r="0" g="0" b="0"/>
          </a:fillRef>
          <a:effectRef idx="0">
            <a:scrgbClr r="0" g="0" b="0"/>
          </a:effectRef>
          <a:fontRef idx="minor"/>
        </p:style>
      </p:sp>
      <p:sp>
        <p:nvSpPr>
          <p:cNvPr id="3" name="TextBox 2">
            <a:extLst>
              <a:ext uri="{FF2B5EF4-FFF2-40B4-BE49-F238E27FC236}">
                <a16:creationId xmlns:a16="http://schemas.microsoft.com/office/drawing/2014/main" id="{4FD66A9A-1F9B-E281-9122-33501447A3A3}"/>
              </a:ext>
            </a:extLst>
          </p:cNvPr>
          <p:cNvSpPr txBox="1"/>
          <p:nvPr/>
        </p:nvSpPr>
        <p:spPr>
          <a:xfrm>
            <a:off x="1966175" y="1569240"/>
            <a:ext cx="8092225" cy="3280513"/>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Market Data Fragmentation:</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Retail traders operate with 15-minute delayed exchange updates and non-deterministic scraping routines, forcing capital allocation decisions on obsolete market quotes.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Price Distortion Bug:</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Numerical strings with formatting delimiters (commas) cause parser truncation—e.g.,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parseFloat</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("24,440.05") returns 24.0 instead of 24440.05, cascading into corrupted index values (Nifty 50 jumping to 249.96).</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Missing Causal Analytics:</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Traditional stock screeners evaluate assets in linear isolation, failing to model how macroeconomic shocks (naval conflicts, weather disruptions) ripple through commodity prices → corporate margins → equity drawdowns.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VITTIYA Solution:</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Unified high-frequency terminal with real-time verified data, regex sanitization, non-linear DAG causal risk engine, and institutional IPO tracking.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Shape 1"/>
          <p:cNvSpPr/>
          <p:nvPr/>
        </p:nvSpPr>
        <p:spPr>
          <a:xfrm>
            <a:off x="533520" y="426960"/>
            <a:ext cx="10972080" cy="11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buNone/>
            </a:pPr>
            <a:r>
              <a:rPr lang="en-US" sz="4000" b="0" strike="noStrike" spc="-1" dirty="0">
                <a:solidFill>
                  <a:srgbClr val="000000"/>
                </a:solidFill>
                <a:latin typeface="Times New Roman" panose="02020603050405020304" pitchFamily="18" charset="0"/>
                <a:cs typeface="Times New Roman" panose="02020603050405020304" pitchFamily="18" charset="0"/>
              </a:rPr>
              <a:t>Objectives</a:t>
            </a:r>
            <a:endParaRPr lang="en-IN" sz="4000" b="0" strike="noStrike" spc="-1" dirty="0">
              <a:latin typeface="Times New Roman" panose="02020603050405020304" pitchFamily="18" charset="0"/>
              <a:cs typeface="Times New Roman" panose="02020603050405020304" pitchFamily="18" charset="0"/>
            </a:endParaRPr>
          </a:p>
        </p:txBody>
      </p:sp>
      <p:sp>
        <p:nvSpPr>
          <p:cNvPr id="135" name="TextShape 2"/>
          <p:cNvSpPr/>
          <p:nvPr/>
        </p:nvSpPr>
        <p:spPr>
          <a:xfrm>
            <a:off x="549000" y="1326600"/>
            <a:ext cx="10972080" cy="4525200"/>
          </a:xfrm>
          <a:prstGeom prst="rect">
            <a:avLst/>
          </a:prstGeom>
          <a:noFill/>
          <a:ln w="0">
            <a:noFill/>
          </a:ln>
        </p:spPr>
        <p:style>
          <a:lnRef idx="0">
            <a:scrgbClr r="0" g="0" b="0"/>
          </a:lnRef>
          <a:fillRef idx="0">
            <a:scrgbClr r="0" g="0" b="0"/>
          </a:fillRef>
          <a:effectRef idx="0">
            <a:scrgbClr r="0" g="0" b="0"/>
          </a:effectRef>
          <a:fontRef idx="minor"/>
        </p:style>
      </p:sp>
      <p:sp>
        <p:nvSpPr>
          <p:cNvPr id="3" name="TextBox 2">
            <a:extLst>
              <a:ext uri="{FF2B5EF4-FFF2-40B4-BE49-F238E27FC236}">
                <a16:creationId xmlns:a16="http://schemas.microsoft.com/office/drawing/2014/main" id="{541673D3-CB66-40F2-E185-D016C3084FF0}"/>
              </a:ext>
            </a:extLst>
          </p:cNvPr>
          <p:cNvSpPr txBox="1"/>
          <p:nvPr/>
        </p:nvSpPr>
        <p:spPr>
          <a:xfrm>
            <a:off x="1604647" y="1554416"/>
            <a:ext cx="8982705" cy="3749168"/>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Deliver real-time, uncorrupted market ticker data for indices (Nifty 50, BSE Sensex, Bank Nifty,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FinNifty</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equities, commodities (Brent Crude, Gold), and FX pairs (USD/INR).</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Implement regex-based numerical sanitization to eliminate price distortion bugs before floating-point conversion.</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Build interactive Directed Acyclic Graph (DAG) visualization enabling users to trace macroeconomic shock ripples across connected sector nodes.</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Integrate Chittorgarh verified IPO hub with real-time GMP tracking, subscription multipliers, and listing gain projections.</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Provide enterprise portfolio stress-testing tools against geopolitical flare-ups, crude oil supply shocks, and central bank rate adjustments.</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Support quantitative analysts with structured sentiment scores, causal DAG propagation metrics, and multi-order ripple models for strategy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backtesting</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extShape 1"/>
          <p:cNvSpPr/>
          <p:nvPr/>
        </p:nvSpPr>
        <p:spPr>
          <a:xfrm>
            <a:off x="533520" y="426960"/>
            <a:ext cx="10972080" cy="11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buNone/>
            </a:pPr>
            <a:r>
              <a:rPr lang="en-US" sz="4000" b="0" strike="noStrike" spc="-1" dirty="0">
                <a:solidFill>
                  <a:srgbClr val="000000"/>
                </a:solidFill>
                <a:latin typeface="Times New Roman" panose="02020603050405020304" pitchFamily="18" charset="0"/>
                <a:cs typeface="Times New Roman" panose="02020603050405020304" pitchFamily="18" charset="0"/>
              </a:rPr>
              <a:t>Methodology</a:t>
            </a:r>
            <a:endParaRPr lang="en-IN" sz="4000" b="0" strike="noStrike" spc="-1" dirty="0">
              <a:latin typeface="Times New Roman" panose="02020603050405020304" pitchFamily="18" charset="0"/>
              <a:cs typeface="Times New Roman" panose="02020603050405020304" pitchFamily="18" charset="0"/>
            </a:endParaRPr>
          </a:p>
        </p:txBody>
      </p:sp>
      <p:sp>
        <p:nvSpPr>
          <p:cNvPr id="137" name="TextShape 2"/>
          <p:cNvSpPr/>
          <p:nvPr/>
        </p:nvSpPr>
        <p:spPr>
          <a:xfrm>
            <a:off x="549000" y="1326600"/>
            <a:ext cx="10972080" cy="4525200"/>
          </a:xfrm>
          <a:prstGeom prst="rect">
            <a:avLst/>
          </a:prstGeom>
          <a:noFill/>
          <a:ln w="0">
            <a:noFill/>
          </a:ln>
        </p:spPr>
        <p:style>
          <a:lnRef idx="0">
            <a:scrgbClr r="0" g="0" b="0"/>
          </a:lnRef>
          <a:fillRef idx="0">
            <a:scrgbClr r="0" g="0" b="0"/>
          </a:fillRef>
          <a:effectRef idx="0">
            <a:scrgbClr r="0" g="0" b="0"/>
          </a:effectRef>
          <a:fontRef idx="minor"/>
        </p:style>
      </p:sp>
      <p:sp>
        <p:nvSpPr>
          <p:cNvPr id="3" name="TextBox 2">
            <a:extLst>
              <a:ext uri="{FF2B5EF4-FFF2-40B4-BE49-F238E27FC236}">
                <a16:creationId xmlns:a16="http://schemas.microsoft.com/office/drawing/2014/main" id="{98F2EC1D-1002-AEE8-F46A-D987D0304C1C}"/>
              </a:ext>
            </a:extLst>
          </p:cNvPr>
          <p:cNvSpPr txBox="1"/>
          <p:nvPr/>
        </p:nvSpPr>
        <p:spPr>
          <a:xfrm>
            <a:off x="518040" y="1217044"/>
            <a:ext cx="6096000" cy="4744312"/>
          </a:xfrm>
          <a:prstGeom prst="rect">
            <a:avLst/>
          </a:prstGeom>
          <a:noFill/>
        </p:spPr>
        <p:txBody>
          <a:bodyPr wrap="square">
            <a:spAutoFit/>
          </a:bodyPr>
          <a:lstStyle/>
          <a:p>
            <a:pPr marL="342900" lvl="0" indent="-342900">
              <a:lnSpc>
                <a:spcPct val="107000"/>
              </a:lnSpc>
              <a:spcAft>
                <a:spcPts val="800"/>
              </a:spcAft>
              <a:buFont typeface="+mj-lt"/>
              <a:buAutoNum type="arabicPeriod"/>
              <a:tabLst>
                <a:tab pos="457200" algn="l"/>
              </a:tabLst>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Real-Time Market Ticker Streamer:</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Asynchronous polling every 8 seconds fetching live chart data from Yahoo Finance REST APIs via resilient CORS proxies with 3500ms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AbortSignal</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timeouts and regex string sanitization.</a:t>
            </a:r>
          </a:p>
          <a:p>
            <a:pPr marL="342900" lvl="0" indent="-342900">
              <a:lnSpc>
                <a:spcPct val="107000"/>
              </a:lnSpc>
              <a:spcAft>
                <a:spcPts val="800"/>
              </a:spcAft>
              <a:buFont typeface="+mj-lt"/>
              <a:buAutoNum type="arabicPeriod"/>
              <a:tabLst>
                <a:tab pos="457200" algn="l"/>
              </a:tabLst>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Numerical Sanitization Pipeline (SAP Engine):</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Incoming API payloads processed through strict regular expression sanitization before IEEE 754 floating-point evaluation to eliminate price distortion.</a:t>
            </a:r>
          </a:p>
          <a:p>
            <a:pPr marL="342900" lvl="0" indent="-342900">
              <a:lnSpc>
                <a:spcPct val="107000"/>
              </a:lnSpc>
              <a:spcAft>
                <a:spcPts val="800"/>
              </a:spcAft>
              <a:buFont typeface="+mj-lt"/>
              <a:buAutoNum type="arabicPeriod"/>
              <a:tabLst>
                <a:tab pos="457200" algn="l"/>
              </a:tabLst>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Chittorgarh IPO Integration:</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Multi-tab dashboard categorized into Open Bidding, Closed/Listed, Upcoming, and Applied IPOs (Mainboard &amp; SME) with live GMP tracking and listing gain calculations.</a:t>
            </a:r>
          </a:p>
          <a:p>
            <a:pPr marL="342900" lvl="0" indent="-342900">
              <a:lnSpc>
                <a:spcPct val="107000"/>
              </a:lnSpc>
              <a:spcAft>
                <a:spcPts val="800"/>
              </a:spcAft>
              <a:buFont typeface="+mj-lt"/>
              <a:buAutoNum type="arabicPeriod"/>
              <a:tabLst>
                <a:tab pos="457200" algn="l"/>
              </a:tabLst>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Causal DAG Propagation:</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Topological sort algorithm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market network as directed acyclic graph where impact scores propagate through interconnected financial nodes without infinite feedback loops.</a:t>
            </a:r>
          </a:p>
          <a:p>
            <a:pPr marL="342900" lvl="0" indent="-342900">
              <a:lnSpc>
                <a:spcPct val="107000"/>
              </a:lnSpc>
              <a:spcAft>
                <a:spcPts val="800"/>
              </a:spcAft>
              <a:buFont typeface="+mj-lt"/>
              <a:buAutoNum type="arabicPeriod"/>
              <a:tabLst>
                <a:tab pos="457200" algn="l"/>
              </a:tabLst>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Dynamic Stock Profile Inspector:</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Real-time fundamental and technical analysis suite rendering candlestick charts, bid/ask depth order books, corporate actions, and split news feeds.</a:t>
            </a:r>
          </a:p>
          <a:p>
            <a:pPr marL="342900" lvl="0" indent="-342900">
              <a:lnSpc>
                <a:spcPct val="107000"/>
              </a:lnSpc>
              <a:spcAft>
                <a:spcPts val="800"/>
              </a:spcAft>
              <a:buFont typeface="+mj-lt"/>
              <a:buAutoNum type="arabicPeriod"/>
              <a:tabLst>
                <a:tab pos="457200" algn="l"/>
              </a:tabLst>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Enterprise Alert Bus:</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Glassmorphic</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popover alert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center</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with category filters (All, Critical P1, AI Alerts, IPOs, Markets), urgency pills, and one-click tab navigation.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extShape 1"/>
          <p:cNvSpPr/>
          <p:nvPr/>
        </p:nvSpPr>
        <p:spPr>
          <a:xfrm>
            <a:off x="533520" y="426960"/>
            <a:ext cx="10972080" cy="11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buNone/>
            </a:pPr>
            <a:r>
              <a:rPr lang="en-US" sz="4000" b="0" strike="noStrike" spc="-1" dirty="0">
                <a:solidFill>
                  <a:srgbClr val="000000"/>
                </a:solidFill>
                <a:latin typeface="Times New Roman" panose="02020603050405020304" pitchFamily="18" charset="0"/>
                <a:cs typeface="Times New Roman" panose="02020603050405020304" pitchFamily="18" charset="0"/>
              </a:rPr>
              <a:t>Tools and Technologies </a:t>
            </a:r>
            <a:endParaRPr lang="en-IN" sz="4000" b="0" strike="noStrike" spc="-1" dirty="0">
              <a:latin typeface="Times New Roman" panose="02020603050405020304" pitchFamily="18" charset="0"/>
              <a:cs typeface="Times New Roman" panose="02020603050405020304" pitchFamily="18" charset="0"/>
            </a:endParaRPr>
          </a:p>
        </p:txBody>
      </p:sp>
      <p:sp>
        <p:nvSpPr>
          <p:cNvPr id="139" name="TextShape 2"/>
          <p:cNvSpPr/>
          <p:nvPr/>
        </p:nvSpPr>
        <p:spPr>
          <a:xfrm>
            <a:off x="549000" y="1326600"/>
            <a:ext cx="10972080" cy="4525200"/>
          </a:xfrm>
          <a:prstGeom prst="rect">
            <a:avLst/>
          </a:prstGeom>
          <a:noFill/>
          <a:ln w="0">
            <a:noFill/>
          </a:ln>
        </p:spPr>
        <p:style>
          <a:lnRef idx="0">
            <a:scrgbClr r="0" g="0" b="0"/>
          </a:lnRef>
          <a:fillRef idx="0">
            <a:scrgbClr r="0" g="0" b="0"/>
          </a:fillRef>
          <a:effectRef idx="0">
            <a:scrgbClr r="0" g="0" b="0"/>
          </a:effectRef>
          <a:fontRef idx="minor"/>
        </p:style>
      </p:sp>
      <p:sp>
        <p:nvSpPr>
          <p:cNvPr id="3" name="TextBox 2">
            <a:extLst>
              <a:ext uri="{FF2B5EF4-FFF2-40B4-BE49-F238E27FC236}">
                <a16:creationId xmlns:a16="http://schemas.microsoft.com/office/drawing/2014/main" id="{87F26041-31C2-18A2-6B7F-5370412B724D}"/>
              </a:ext>
            </a:extLst>
          </p:cNvPr>
          <p:cNvSpPr txBox="1"/>
          <p:nvPr/>
        </p:nvSpPr>
        <p:spPr>
          <a:xfrm>
            <a:off x="772357" y="1326600"/>
            <a:ext cx="9969623" cy="4481291"/>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Frontend Framework:</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React 18 with TypeScript 5 for type-safe component architecture and state management.</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Build &amp; Bundling:</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Vite 8 for sub-600ms production compilation and optimized single-page application delivery.</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Styling &amp; UI:</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Tailwind CSS v3 with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glassmorphism</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design patterns, custom SVG brand identity, and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Lucide</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vector iconography.</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Market Data APIs:</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Yahoo Finance v8 REST API endpoints via resilient CORS proxies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api.allorigins.win</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'corsproxy.io') with 3500ms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AbortSignal</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timeouts.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Data Visualization:</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Leaflet GIS mapping for geographic risk analysis, D3.js for candlestick charts and order depth visualization.</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State Management:</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React Context API with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LocalStorage</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persistence layer for client-side caching and offline resilience.</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Security &amp; Protocols:</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HTTPS/TLS 1.3 encryption over HTTP/2, XSS sanitization, strict CORS proxy isolation, zero hardcoded API keys.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Testing &amp; Quality:</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Black-box testing framework, TypeScript strict mode for automated unit and integration testing, comprehensive error handling.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Shape 1"/>
          <p:cNvSpPr/>
          <p:nvPr/>
        </p:nvSpPr>
        <p:spPr>
          <a:xfrm>
            <a:off x="533520" y="426960"/>
            <a:ext cx="10972080" cy="11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buNone/>
            </a:pPr>
            <a:r>
              <a:rPr lang="en-US" sz="4000" b="0" strike="noStrike" spc="-1" dirty="0">
                <a:solidFill>
                  <a:srgbClr val="000000"/>
                </a:solidFill>
                <a:latin typeface="Times New Roman" panose="02020603050405020304" pitchFamily="18" charset="0"/>
                <a:cs typeface="Times New Roman" panose="02020603050405020304" pitchFamily="18" charset="0"/>
              </a:rPr>
              <a:t>Screenshots</a:t>
            </a:r>
            <a:endParaRPr lang="en-IN" sz="4000" b="0" strike="noStrike" spc="-1" dirty="0">
              <a:latin typeface="Times New Roman" panose="02020603050405020304" pitchFamily="18" charset="0"/>
              <a:cs typeface="Times New Roman" panose="02020603050405020304" pitchFamily="18" charset="0"/>
            </a:endParaRPr>
          </a:p>
        </p:txBody>
      </p:sp>
      <p:sp>
        <p:nvSpPr>
          <p:cNvPr id="141" name="TextShape 2"/>
          <p:cNvSpPr/>
          <p:nvPr/>
        </p:nvSpPr>
        <p:spPr>
          <a:xfrm>
            <a:off x="549000" y="1326600"/>
            <a:ext cx="10972080" cy="4525200"/>
          </a:xfrm>
          <a:prstGeom prst="rect">
            <a:avLst/>
          </a:prstGeom>
          <a:noFill/>
          <a:ln w="0">
            <a:noFill/>
          </a:ln>
        </p:spPr>
        <p:style>
          <a:lnRef idx="0">
            <a:scrgbClr r="0" g="0" b="0"/>
          </a:lnRef>
          <a:fillRef idx="0">
            <a:scrgbClr r="0" g="0" b="0"/>
          </a:fillRef>
          <a:effectRef idx="0">
            <a:scrgbClr r="0" g="0" b="0"/>
          </a:effectRef>
          <a:fontRef idx="minor"/>
        </p:style>
      </p:sp>
      <p:pic>
        <p:nvPicPr>
          <p:cNvPr id="3" name="Picture 2">
            <a:extLst>
              <a:ext uri="{FF2B5EF4-FFF2-40B4-BE49-F238E27FC236}">
                <a16:creationId xmlns:a16="http://schemas.microsoft.com/office/drawing/2014/main" id="{461F5F64-1E68-D63D-F0BF-63562B0162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4216" y="1628353"/>
            <a:ext cx="5215927" cy="3259954"/>
          </a:xfrm>
          <a:prstGeom prst="rect">
            <a:avLst/>
          </a:prstGeom>
        </p:spPr>
      </p:pic>
      <p:sp>
        <p:nvSpPr>
          <p:cNvPr id="4" name="TextBox 3">
            <a:extLst>
              <a:ext uri="{FF2B5EF4-FFF2-40B4-BE49-F238E27FC236}">
                <a16:creationId xmlns:a16="http://schemas.microsoft.com/office/drawing/2014/main" id="{6CE250B3-E94C-3B13-5DFC-9FD047DF7A01}"/>
              </a:ext>
            </a:extLst>
          </p:cNvPr>
          <p:cNvSpPr txBox="1"/>
          <p:nvPr/>
        </p:nvSpPr>
        <p:spPr>
          <a:xfrm>
            <a:off x="549000" y="4988344"/>
            <a:ext cx="3975384"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Fig: </a:t>
            </a:r>
            <a:r>
              <a:rPr lang="en-IN" dirty="0" err="1">
                <a:latin typeface="Times New Roman" panose="02020603050405020304" pitchFamily="18" charset="0"/>
                <a:cs typeface="Times New Roman" panose="02020603050405020304" pitchFamily="18" charset="0"/>
              </a:rPr>
              <a:t>Vittiya</a:t>
            </a:r>
            <a:r>
              <a:rPr lang="en-IN" dirty="0">
                <a:latin typeface="Times New Roman" panose="02020603050405020304" pitchFamily="18" charset="0"/>
                <a:cs typeface="Times New Roman" panose="02020603050405020304" pitchFamily="18" charset="0"/>
              </a:rPr>
              <a:t> Master Executive Dashboard</a:t>
            </a:r>
          </a:p>
        </p:txBody>
      </p:sp>
      <p:pic>
        <p:nvPicPr>
          <p:cNvPr id="6" name="Picture 5">
            <a:extLst>
              <a:ext uri="{FF2B5EF4-FFF2-40B4-BE49-F238E27FC236}">
                <a16:creationId xmlns:a16="http://schemas.microsoft.com/office/drawing/2014/main" id="{5449AC53-057B-A9E4-48B8-09FAD9E2D1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7076" y="1596582"/>
            <a:ext cx="5215926" cy="3259954"/>
          </a:xfrm>
          <a:prstGeom prst="rect">
            <a:avLst/>
          </a:prstGeom>
        </p:spPr>
      </p:pic>
      <p:sp>
        <p:nvSpPr>
          <p:cNvPr id="8" name="TextBox 7">
            <a:extLst>
              <a:ext uri="{FF2B5EF4-FFF2-40B4-BE49-F238E27FC236}">
                <a16:creationId xmlns:a16="http://schemas.microsoft.com/office/drawing/2014/main" id="{E11889CE-B09C-99C5-0E1A-41992F784533}"/>
              </a:ext>
            </a:extLst>
          </p:cNvPr>
          <p:cNvSpPr txBox="1"/>
          <p:nvPr/>
        </p:nvSpPr>
        <p:spPr>
          <a:xfrm>
            <a:off x="6427076" y="4988344"/>
            <a:ext cx="6094520" cy="646331"/>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Fig: AI Casual DAG Visualizer</a:t>
            </a:r>
          </a:p>
          <a:p>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Shape 1"/>
          <p:cNvSpPr/>
          <p:nvPr/>
        </p:nvSpPr>
        <p:spPr>
          <a:xfrm>
            <a:off x="533520" y="426960"/>
            <a:ext cx="10972080" cy="11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buNone/>
            </a:pPr>
            <a:r>
              <a:rPr lang="en-US" sz="4000" b="0" strike="noStrike" spc="-1" dirty="0">
                <a:solidFill>
                  <a:srgbClr val="000000"/>
                </a:solidFill>
                <a:latin typeface="Times New Roman" panose="02020603050405020304" pitchFamily="18" charset="0"/>
                <a:cs typeface="Times New Roman" panose="02020603050405020304" pitchFamily="18" charset="0"/>
              </a:rPr>
              <a:t>Pert Chart</a:t>
            </a:r>
            <a:endParaRPr lang="en-IN" sz="4000" b="0" strike="noStrike" spc="-1" dirty="0">
              <a:latin typeface="Times New Roman" panose="02020603050405020304" pitchFamily="18" charset="0"/>
              <a:cs typeface="Times New Roman" panose="02020603050405020304" pitchFamily="18" charset="0"/>
            </a:endParaRPr>
          </a:p>
        </p:txBody>
      </p:sp>
      <p:sp>
        <p:nvSpPr>
          <p:cNvPr id="143" name="TextShape 2"/>
          <p:cNvSpPr/>
          <p:nvPr/>
        </p:nvSpPr>
        <p:spPr>
          <a:xfrm>
            <a:off x="549000" y="1326600"/>
            <a:ext cx="10972080" cy="4525200"/>
          </a:xfrm>
          <a:prstGeom prst="rect">
            <a:avLst/>
          </a:prstGeom>
          <a:noFill/>
          <a:ln w="0">
            <a:noFill/>
          </a:ln>
        </p:spPr>
        <p:style>
          <a:lnRef idx="0">
            <a:scrgbClr r="0" g="0" b="0"/>
          </a:lnRef>
          <a:fillRef idx="0">
            <a:scrgbClr r="0" g="0" b="0"/>
          </a:fillRef>
          <a:effectRef idx="0">
            <a:scrgbClr r="0" g="0" b="0"/>
          </a:effectRef>
          <a:fontRef idx="minor"/>
        </p:style>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Shape 1"/>
          <p:cNvSpPr/>
          <p:nvPr/>
        </p:nvSpPr>
        <p:spPr>
          <a:xfrm>
            <a:off x="533520" y="426960"/>
            <a:ext cx="10972080" cy="11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buNone/>
            </a:pPr>
            <a:r>
              <a:rPr lang="en-US" sz="4000" b="0" strike="noStrike" spc="-1" dirty="0">
                <a:solidFill>
                  <a:srgbClr val="000000"/>
                </a:solidFill>
                <a:latin typeface="Times New Roman" panose="02020603050405020304" pitchFamily="18" charset="0"/>
                <a:cs typeface="Times New Roman" panose="02020603050405020304" pitchFamily="18" charset="0"/>
              </a:rPr>
              <a:t>Testing Methodology &amp; Results</a:t>
            </a:r>
            <a:endParaRPr lang="en-IN" sz="4000" b="0" strike="noStrike" spc="-1" dirty="0">
              <a:latin typeface="Times New Roman" panose="02020603050405020304" pitchFamily="18" charset="0"/>
              <a:cs typeface="Times New Roman" panose="02020603050405020304" pitchFamily="18" charset="0"/>
            </a:endParaRPr>
          </a:p>
        </p:txBody>
      </p:sp>
      <p:sp>
        <p:nvSpPr>
          <p:cNvPr id="143" name="TextShape 2"/>
          <p:cNvSpPr/>
          <p:nvPr/>
        </p:nvSpPr>
        <p:spPr>
          <a:xfrm>
            <a:off x="549000" y="1326600"/>
            <a:ext cx="5120640" cy="130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l">
              <a:buNone/>
            </a:pPr>
            <a:r>
              <a:rPr lang="en-US" sz="2000" b="1" strike="noStrike" dirty="0">
                <a:solidFill>
                  <a:srgbClr val="000000"/>
                </a:solidFill>
                <a:latin typeface="Times New Roman" panose="02020603050405020304" pitchFamily="18" charset="0"/>
                <a:cs typeface="Times New Roman" panose="02020603050405020304" pitchFamily="18" charset="0"/>
              </a:rPr>
              <a:t>Methodology</a:t>
            </a:r>
          </a:p>
          <a:p>
            <a:pPr algn="l">
              <a:buNone/>
            </a:pPr>
            <a:endParaRPr lang="en-US" sz="2000" b="1" strike="noStrike" dirty="0">
              <a:solidFill>
                <a:srgbClr val="000000"/>
              </a:solidFill>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Black-Box Testing:</a:t>
            </a:r>
            <a:r>
              <a:rPr lang="en-IN" sz="1400" dirty="0">
                <a:latin typeface="Times New Roman" panose="02020603050405020304" pitchFamily="18" charset="0"/>
                <a:cs typeface="Times New Roman" panose="02020603050405020304" pitchFamily="18" charset="0"/>
              </a:rPr>
              <a:t> External API/UI testing without internal code inspection.</a:t>
            </a:r>
          </a:p>
          <a:p>
            <a:pPr marL="285750" lvl="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Input/Output Validation:</a:t>
            </a:r>
            <a:r>
              <a:rPr lang="en-IN" sz="1400" dirty="0">
                <a:latin typeface="Times New Roman" panose="02020603050405020304" pitchFamily="18" charset="0"/>
                <a:cs typeface="Times New Roman" panose="02020603050405020304" pitchFamily="18" charset="0"/>
              </a:rPr>
              <a:t> Comprehensive test cases per functional module.</a:t>
            </a:r>
          </a:p>
          <a:p>
            <a:pPr marL="285750" lvl="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Coverage Areas:</a:t>
            </a:r>
            <a:r>
              <a:rPr lang="en-IN" sz="1400" dirty="0">
                <a:latin typeface="Times New Roman" panose="02020603050405020304" pitchFamily="18" charset="0"/>
                <a:cs typeface="Times New Roman" panose="02020603050405020304" pitchFamily="18" charset="0"/>
              </a:rPr>
              <a:t> Real-time ticker accuracy, price sanitization correctness, DAG propagation logic, IPO data retrieval, and alert system functionality.</a:t>
            </a:r>
          </a:p>
          <a:p>
            <a:pPr marL="285750" lvl="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Pass Criterion:</a:t>
            </a:r>
            <a:r>
              <a:rPr lang="en-IN" sz="1400" dirty="0">
                <a:latin typeface="Times New Roman" panose="02020603050405020304" pitchFamily="18" charset="0"/>
                <a:cs typeface="Times New Roman" panose="02020603050405020304" pitchFamily="18" charset="0"/>
              </a:rPr>
              <a:t> Correct output generation and compliance with system specifications.</a:t>
            </a:r>
          </a:p>
          <a:p>
            <a:pPr algn="l">
              <a:buNone/>
            </a:pPr>
            <a:endParaRPr lang="en-US" sz="2000" b="1" strike="noStrike" dirty="0">
              <a:solidFill>
                <a:srgbClr val="000000"/>
              </a:solidFill>
              <a:latin typeface="Times New Roman" panose="02020603050405020304" pitchFamily="18" charset="0"/>
              <a:cs typeface="Times New Roman" panose="02020603050405020304" pitchFamily="18" charset="0"/>
            </a:endParaRPr>
          </a:p>
        </p:txBody>
      </p:sp>
      <p:sp>
        <p:nvSpPr>
          <p:cNvPr id="199" name="TableCaption"/>
          <p:cNvSpPr/>
          <p:nvPr/>
        </p:nvSpPr>
        <p:spPr>
          <a:xfrm>
            <a:off x="5943600" y="1326600"/>
            <a:ext cx="5709600" cy="320000"/>
          </a:xfrm>
          <a:prstGeom prst="rect">
            <a:avLst/>
          </a:prstGeom>
          <a:noFill/>
          <a:ln w="0">
            <a:noFill/>
          </a:ln>
        </p:spPr>
        <p:style>
          <a:lnRef idx="0">
            <a:scrgbClr r="0" g="0" b="0"/>
          </a:lnRef>
          <a:fillRef idx="0">
            <a:scrgbClr r="0" g="0" b="0"/>
          </a:fillRef>
          <a:effectRef idx="0">
            <a:scrgbClr r="0" g="0" b="0"/>
          </a:effectRef>
          <a:fontRef idx="minor"/>
        </p:style>
        <p:txBody>
          <a:bodyPr lIns="0" tIns="0"/>
          <a:lstStyle/>
          <a:p>
            <a:pPr algn="l">
              <a:buNone/>
            </a:pPr>
            <a:r>
              <a:rPr lang="en-US" sz="2000" b="1" dirty="0">
                <a:solidFill>
                  <a:srgbClr val="000000"/>
                </a:solidFill>
                <a:latin typeface="Times New Roman" panose="02020603050405020304" pitchFamily="18" charset="0"/>
                <a:cs typeface="Times New Roman" panose="02020603050405020304" pitchFamily="18" charset="0"/>
              </a:rPr>
              <a:t>Table 1 — Black-Box Test Results</a:t>
            </a:r>
          </a:p>
        </p:txBody>
      </p:sp>
      <p:graphicFrame>
        <p:nvGraphicFramePr>
          <p:cNvPr id="200" name="ResultsTable"/>
          <p:cNvGraphicFramePr>
            <a:graphicFrameLocks noGrp="1"/>
          </p:cNvGraphicFramePr>
          <p:nvPr>
            <p:extLst>
              <p:ext uri="{D42A27DB-BD31-4B8C-83A1-F6EECF244321}">
                <p14:modId xmlns:p14="http://schemas.microsoft.com/office/powerpoint/2010/main" val="1855799751"/>
              </p:ext>
            </p:extLst>
          </p:nvPr>
        </p:nvGraphicFramePr>
        <p:xfrm>
          <a:off x="5943600" y="1706600"/>
          <a:ext cx="5709600" cy="3600000"/>
        </p:xfrm>
        <a:graphic>
          <a:graphicData uri="http://schemas.openxmlformats.org/drawingml/2006/table">
            <a:tbl>
              <a:tblPr firstRow="1" bandRow="1">
                <a:tableStyleId>{5C22544A-7EE6-4342-B048-85BDC9FD1C3A}</a:tableStyleId>
              </a:tblPr>
              <a:tblGrid>
                <a:gridCol w="2800000">
                  <a:extLst>
                    <a:ext uri="{9D8B030D-6E8A-4147-A177-3AD203B41FA5}">
                      <a16:colId xmlns:a16="http://schemas.microsoft.com/office/drawing/2014/main" val="20000"/>
                    </a:ext>
                  </a:extLst>
                </a:gridCol>
                <a:gridCol w="950000">
                  <a:extLst>
                    <a:ext uri="{9D8B030D-6E8A-4147-A177-3AD203B41FA5}">
                      <a16:colId xmlns:a16="http://schemas.microsoft.com/office/drawing/2014/main" val="20001"/>
                    </a:ext>
                  </a:extLst>
                </a:gridCol>
                <a:gridCol w="950000">
                  <a:extLst>
                    <a:ext uri="{9D8B030D-6E8A-4147-A177-3AD203B41FA5}">
                      <a16:colId xmlns:a16="http://schemas.microsoft.com/office/drawing/2014/main" val="20002"/>
                    </a:ext>
                  </a:extLst>
                </a:gridCol>
                <a:gridCol w="1009600">
                  <a:extLst>
                    <a:ext uri="{9D8B030D-6E8A-4147-A177-3AD203B41FA5}">
                      <a16:colId xmlns:a16="http://schemas.microsoft.com/office/drawing/2014/main" val="20003"/>
                    </a:ext>
                  </a:extLst>
                </a:gridCol>
              </a:tblGrid>
              <a:tr h="450000">
                <a:tc>
                  <a:txBody>
                    <a:bodyPr/>
                    <a:lstStyle/>
                    <a:p>
                      <a:pPr algn="l"/>
                      <a:r>
                        <a:rPr lang="en-US" sz="1100" b="1" dirty="0">
                          <a:solidFill>
                            <a:srgbClr val="FFFFFF"/>
                          </a:solidFill>
                          <a:latin typeface="Times New Roman" panose="02020603050405020304" pitchFamily="18" charset="0"/>
                          <a:cs typeface="Times New Roman" panose="02020603050405020304" pitchFamily="18" charset="0"/>
                        </a:rPr>
                        <a:t>Test Category</a:t>
                      </a:r>
                    </a:p>
                  </a:txBody>
                  <a:tcPr marL="45720" marR="45720" marT="22860" marB="22860" anchor="ctr">
                    <a:solidFill>
                      <a:srgbClr val="C00000"/>
                    </a:solidFill>
                  </a:tcPr>
                </a:tc>
                <a:tc>
                  <a:txBody>
                    <a:bodyPr/>
                    <a:lstStyle/>
                    <a:p>
                      <a:pPr algn="ctr"/>
                      <a:r>
                        <a:rPr lang="en-US" sz="1100" b="1">
                          <a:solidFill>
                            <a:srgbClr val="FFFFFF"/>
                          </a:solidFill>
                          <a:latin typeface="Times New Roman" panose="02020603050405020304" pitchFamily="18" charset="0"/>
                          <a:cs typeface="Times New Roman" panose="02020603050405020304" pitchFamily="18" charset="0"/>
                        </a:rPr>
                        <a:t>Cases</a:t>
                      </a:r>
                    </a:p>
                  </a:txBody>
                  <a:tcPr marL="45720" marR="45720" marT="22860" marB="22860" anchor="ctr">
                    <a:solidFill>
                      <a:srgbClr val="C00000"/>
                    </a:solidFill>
                  </a:tcPr>
                </a:tc>
                <a:tc>
                  <a:txBody>
                    <a:bodyPr/>
                    <a:lstStyle/>
                    <a:p>
                      <a:pPr algn="ctr"/>
                      <a:r>
                        <a:rPr lang="en-US" sz="1100" b="1">
                          <a:solidFill>
                            <a:srgbClr val="FFFFFF"/>
                          </a:solidFill>
                          <a:latin typeface="Times New Roman" panose="02020603050405020304" pitchFamily="18" charset="0"/>
                          <a:cs typeface="Times New Roman" panose="02020603050405020304" pitchFamily="18" charset="0"/>
                        </a:rPr>
                        <a:t>Passed</a:t>
                      </a:r>
                    </a:p>
                  </a:txBody>
                  <a:tcPr marL="45720" marR="45720" marT="22860" marB="22860" anchor="ctr">
                    <a:solidFill>
                      <a:srgbClr val="C00000"/>
                    </a:solidFill>
                  </a:tcPr>
                </a:tc>
                <a:tc>
                  <a:txBody>
                    <a:bodyPr/>
                    <a:lstStyle/>
                    <a:p>
                      <a:pPr algn="ctr"/>
                      <a:r>
                        <a:rPr lang="en-US" sz="1100" b="1" dirty="0">
                          <a:solidFill>
                            <a:srgbClr val="FFFFFF"/>
                          </a:solidFill>
                          <a:latin typeface="Times New Roman" panose="02020603050405020304" pitchFamily="18" charset="0"/>
                          <a:cs typeface="Times New Roman" panose="02020603050405020304" pitchFamily="18" charset="0"/>
                        </a:rPr>
                        <a:t>Pass Rate</a:t>
                      </a:r>
                    </a:p>
                  </a:txBody>
                  <a:tcPr marL="45720" marR="45720" marT="22860" marB="22860" anchor="ctr">
                    <a:solidFill>
                      <a:srgbClr val="C00000"/>
                    </a:solidFill>
                  </a:tcPr>
                </a:tc>
                <a:extLst>
                  <a:ext uri="{0D108BD9-81ED-4DB2-BD59-A6C34878D82A}">
                    <a16:rowId xmlns:a16="http://schemas.microsoft.com/office/drawing/2014/main" val="10000"/>
                  </a:ext>
                </a:extLst>
              </a:tr>
              <a:tr h="450000">
                <a:tc>
                  <a:txBody>
                    <a:bodyPr/>
                    <a:lstStyle/>
                    <a:p>
                      <a:pPr algn="l"/>
                      <a:r>
                        <a:rPr lang="en-IN" sz="1200" b="0" kern="1200" dirty="0">
                          <a:solidFill>
                            <a:schemeClr val="dk1"/>
                          </a:solidFill>
                          <a:effectLst/>
                          <a:latin typeface="Times New Roman" panose="02020603050405020304" pitchFamily="18" charset="0"/>
                          <a:ea typeface="+mn-ea"/>
                          <a:cs typeface="Times New Roman" panose="02020603050405020304" pitchFamily="18" charset="0"/>
                        </a:rPr>
                        <a:t>Real-Time Ticker Accuracy:</a:t>
                      </a:r>
                      <a:endParaRPr lang="en-US" sz="1200" b="0" dirty="0">
                        <a:solidFill>
                          <a:srgbClr val="000000"/>
                        </a:solidFill>
                        <a:latin typeface="Times New Roman" panose="02020603050405020304" pitchFamily="18" charset="0"/>
                        <a:cs typeface="Times New Roman" panose="02020603050405020304" pitchFamily="18" charset="0"/>
                      </a:endParaRPr>
                    </a:p>
                  </a:txBody>
                  <a:tcPr marL="45720" marR="45720" marT="22860" marB="22860" anchor="ctr">
                    <a:solidFill>
                      <a:srgbClr val="FFFFFF"/>
                    </a:solidFill>
                  </a:tcPr>
                </a:tc>
                <a:tc>
                  <a:txBody>
                    <a:bodyPr/>
                    <a:lstStyle/>
                    <a:p>
                      <a:pPr algn="ctr"/>
                      <a:r>
                        <a:rPr lang="en-US" sz="1100" b="0" dirty="0">
                          <a:solidFill>
                            <a:srgbClr val="000000"/>
                          </a:solidFill>
                          <a:latin typeface="Times New Roman" panose="02020603050405020304" pitchFamily="18" charset="0"/>
                          <a:cs typeface="Times New Roman" panose="02020603050405020304" pitchFamily="18" charset="0"/>
                        </a:rPr>
                        <a:t>25</a:t>
                      </a:r>
                    </a:p>
                  </a:txBody>
                  <a:tcPr marL="45720" marR="45720" marT="22860" marB="22860" anchor="ctr">
                    <a:solidFill>
                      <a:srgbClr val="FFFFFF"/>
                    </a:solidFill>
                  </a:tcPr>
                </a:tc>
                <a:tc>
                  <a:txBody>
                    <a:bodyPr/>
                    <a:lstStyle/>
                    <a:p>
                      <a:pPr algn="ctr"/>
                      <a:r>
                        <a:rPr lang="en-US" sz="1100" b="0" dirty="0">
                          <a:solidFill>
                            <a:srgbClr val="000000"/>
                          </a:solidFill>
                          <a:latin typeface="Times New Roman" panose="02020603050405020304" pitchFamily="18" charset="0"/>
                          <a:cs typeface="Times New Roman" panose="02020603050405020304" pitchFamily="18" charset="0"/>
                        </a:rPr>
                        <a:t>25</a:t>
                      </a:r>
                    </a:p>
                  </a:txBody>
                  <a:tcPr marL="45720" marR="45720" marT="22860" marB="22860" anchor="ctr">
                    <a:solidFill>
                      <a:srgbClr val="FFFFFF"/>
                    </a:solidFill>
                  </a:tcPr>
                </a:tc>
                <a:tc>
                  <a:txBody>
                    <a:bodyPr/>
                    <a:lstStyle/>
                    <a:p>
                      <a:pPr algn="ctr"/>
                      <a:r>
                        <a:rPr lang="en-US" sz="1100" b="1" dirty="0">
                          <a:solidFill>
                            <a:srgbClr val="1E8E5A"/>
                          </a:solidFill>
                          <a:latin typeface="Times New Roman" panose="02020603050405020304" pitchFamily="18" charset="0"/>
                          <a:cs typeface="Times New Roman" panose="02020603050405020304" pitchFamily="18" charset="0"/>
                        </a:rPr>
                        <a:t>100%</a:t>
                      </a:r>
                    </a:p>
                  </a:txBody>
                  <a:tcPr marL="45720" marR="45720" marT="22860" marB="22860" anchor="ctr">
                    <a:solidFill>
                      <a:srgbClr val="FFFFFF"/>
                    </a:solidFill>
                  </a:tcPr>
                </a:tc>
                <a:extLst>
                  <a:ext uri="{0D108BD9-81ED-4DB2-BD59-A6C34878D82A}">
                    <a16:rowId xmlns:a16="http://schemas.microsoft.com/office/drawing/2014/main" val="10001"/>
                  </a:ext>
                </a:extLst>
              </a:tr>
              <a:tr h="450000">
                <a:tc>
                  <a:txBody>
                    <a:bodyPr/>
                    <a:lstStyle/>
                    <a:p>
                      <a:pPr algn="l"/>
                      <a:r>
                        <a:rPr lang="en-IN" sz="1200" b="0" kern="1200" dirty="0">
                          <a:solidFill>
                            <a:schemeClr val="dk1"/>
                          </a:solidFill>
                          <a:effectLst/>
                          <a:latin typeface="Times New Roman" panose="02020603050405020304" pitchFamily="18" charset="0"/>
                          <a:ea typeface="+mn-ea"/>
                          <a:cs typeface="Times New Roman" panose="02020603050405020304" pitchFamily="18" charset="0"/>
                        </a:rPr>
                        <a:t>Price Sanitization (SAP Engine)</a:t>
                      </a:r>
                      <a:endParaRPr lang="en-US" sz="1200" b="0" dirty="0">
                        <a:solidFill>
                          <a:srgbClr val="000000"/>
                        </a:solidFill>
                        <a:latin typeface="Times New Roman" panose="02020603050405020304" pitchFamily="18" charset="0"/>
                        <a:cs typeface="Times New Roman" panose="02020603050405020304" pitchFamily="18" charset="0"/>
                      </a:endParaRPr>
                    </a:p>
                  </a:txBody>
                  <a:tcPr marL="45720" marR="45720" marT="22860" marB="22860" anchor="ctr">
                    <a:solidFill>
                      <a:srgbClr val="F2F2F2"/>
                    </a:solidFill>
                  </a:tcPr>
                </a:tc>
                <a:tc>
                  <a:txBody>
                    <a:bodyPr/>
                    <a:lstStyle/>
                    <a:p>
                      <a:pPr algn="ctr"/>
                      <a:r>
                        <a:rPr lang="en-US" sz="1100" b="0" dirty="0">
                          <a:solidFill>
                            <a:srgbClr val="000000"/>
                          </a:solidFill>
                          <a:latin typeface="Times New Roman" panose="02020603050405020304" pitchFamily="18" charset="0"/>
                          <a:cs typeface="Times New Roman" panose="02020603050405020304" pitchFamily="18" charset="0"/>
                        </a:rPr>
                        <a:t>20</a:t>
                      </a:r>
                    </a:p>
                  </a:txBody>
                  <a:tcPr marL="45720" marR="45720" marT="22860" marB="22860" anchor="ctr">
                    <a:solidFill>
                      <a:srgbClr val="F2F2F2"/>
                    </a:solidFill>
                  </a:tcPr>
                </a:tc>
                <a:tc>
                  <a:txBody>
                    <a:bodyPr/>
                    <a:lstStyle/>
                    <a:p>
                      <a:pPr algn="ctr"/>
                      <a:r>
                        <a:rPr lang="en-US" sz="1100" b="0" dirty="0">
                          <a:solidFill>
                            <a:srgbClr val="000000"/>
                          </a:solidFill>
                          <a:latin typeface="Times New Roman" panose="02020603050405020304" pitchFamily="18" charset="0"/>
                          <a:cs typeface="Times New Roman" panose="02020603050405020304" pitchFamily="18" charset="0"/>
                        </a:rPr>
                        <a:t>20</a:t>
                      </a:r>
                    </a:p>
                  </a:txBody>
                  <a:tcPr marL="45720" marR="45720" marT="22860" marB="22860" anchor="ctr">
                    <a:solidFill>
                      <a:srgbClr val="F2F2F2"/>
                    </a:solidFill>
                  </a:tcPr>
                </a:tc>
                <a:tc>
                  <a:txBody>
                    <a:bodyPr/>
                    <a:lstStyle/>
                    <a:p>
                      <a:pPr algn="ctr"/>
                      <a:r>
                        <a:rPr lang="en-US" sz="1100" b="1" dirty="0">
                          <a:solidFill>
                            <a:srgbClr val="1E8E5A"/>
                          </a:solidFill>
                          <a:latin typeface="Times New Roman" panose="02020603050405020304" pitchFamily="18" charset="0"/>
                          <a:cs typeface="Times New Roman" panose="02020603050405020304" pitchFamily="18" charset="0"/>
                        </a:rPr>
                        <a:t>100%</a:t>
                      </a:r>
                    </a:p>
                  </a:txBody>
                  <a:tcPr marL="45720" marR="45720" marT="22860" marB="22860" anchor="ctr">
                    <a:solidFill>
                      <a:srgbClr val="F2F2F2"/>
                    </a:solidFill>
                  </a:tcPr>
                </a:tc>
                <a:extLst>
                  <a:ext uri="{0D108BD9-81ED-4DB2-BD59-A6C34878D82A}">
                    <a16:rowId xmlns:a16="http://schemas.microsoft.com/office/drawing/2014/main" val="10002"/>
                  </a:ext>
                </a:extLst>
              </a:tr>
              <a:tr h="450000">
                <a:tc>
                  <a:txBody>
                    <a:bodyPr/>
                    <a:lstStyle/>
                    <a:p>
                      <a:pPr algn="l"/>
                      <a:r>
                        <a:rPr lang="en-IN" sz="1200" b="0" kern="1200" dirty="0">
                          <a:solidFill>
                            <a:schemeClr val="dk1"/>
                          </a:solidFill>
                          <a:effectLst/>
                          <a:latin typeface="Times New Roman" panose="02020603050405020304" pitchFamily="18" charset="0"/>
                          <a:ea typeface="+mn-ea"/>
                          <a:cs typeface="Times New Roman" panose="02020603050405020304" pitchFamily="18" charset="0"/>
                        </a:rPr>
                        <a:t>Causal DAG Propagation</a:t>
                      </a:r>
                      <a:endParaRPr lang="en-US" sz="1200" b="0" dirty="0">
                        <a:solidFill>
                          <a:srgbClr val="000000"/>
                        </a:solidFill>
                        <a:latin typeface="Times New Roman" panose="02020603050405020304" pitchFamily="18" charset="0"/>
                        <a:cs typeface="Times New Roman" panose="02020603050405020304" pitchFamily="18" charset="0"/>
                      </a:endParaRPr>
                    </a:p>
                  </a:txBody>
                  <a:tcPr marL="45720" marR="45720" marT="22860" marB="22860" anchor="ctr">
                    <a:solidFill>
                      <a:srgbClr val="FFFFFF"/>
                    </a:solidFill>
                  </a:tcPr>
                </a:tc>
                <a:tc>
                  <a:txBody>
                    <a:bodyPr/>
                    <a:lstStyle/>
                    <a:p>
                      <a:pPr algn="ctr"/>
                      <a:r>
                        <a:rPr lang="en-US" sz="1100" b="0" dirty="0">
                          <a:solidFill>
                            <a:srgbClr val="000000"/>
                          </a:solidFill>
                          <a:latin typeface="Times New Roman" panose="02020603050405020304" pitchFamily="18" charset="0"/>
                          <a:cs typeface="Times New Roman" panose="02020603050405020304" pitchFamily="18" charset="0"/>
                        </a:rPr>
                        <a:t>18</a:t>
                      </a:r>
                    </a:p>
                  </a:txBody>
                  <a:tcPr marL="45720" marR="45720" marT="22860" marB="22860" anchor="ctr">
                    <a:solidFill>
                      <a:srgbClr val="FFFFFF"/>
                    </a:solidFill>
                  </a:tcPr>
                </a:tc>
                <a:tc>
                  <a:txBody>
                    <a:bodyPr/>
                    <a:lstStyle/>
                    <a:p>
                      <a:pPr algn="ctr"/>
                      <a:r>
                        <a:rPr lang="en-US" sz="1100" b="0" dirty="0">
                          <a:solidFill>
                            <a:srgbClr val="000000"/>
                          </a:solidFill>
                          <a:latin typeface="Times New Roman" panose="02020603050405020304" pitchFamily="18" charset="0"/>
                          <a:cs typeface="Times New Roman" panose="02020603050405020304" pitchFamily="18" charset="0"/>
                        </a:rPr>
                        <a:t>18</a:t>
                      </a:r>
                    </a:p>
                  </a:txBody>
                  <a:tcPr marL="45720" marR="45720" marT="22860" marB="22860" anchor="ctr">
                    <a:solidFill>
                      <a:srgbClr val="FFFFFF"/>
                    </a:solidFill>
                  </a:tcPr>
                </a:tc>
                <a:tc>
                  <a:txBody>
                    <a:bodyPr/>
                    <a:lstStyle/>
                    <a:p>
                      <a:pPr algn="ctr"/>
                      <a:r>
                        <a:rPr lang="en-US" sz="1100" b="1">
                          <a:solidFill>
                            <a:srgbClr val="1E8E5A"/>
                          </a:solidFill>
                          <a:latin typeface="Times New Roman" panose="02020603050405020304" pitchFamily="18" charset="0"/>
                          <a:cs typeface="Times New Roman" panose="02020603050405020304" pitchFamily="18" charset="0"/>
                        </a:rPr>
                        <a:t>100%</a:t>
                      </a:r>
                    </a:p>
                  </a:txBody>
                  <a:tcPr marL="45720" marR="45720" marT="22860" marB="22860" anchor="ctr">
                    <a:solidFill>
                      <a:srgbClr val="FFFFFF"/>
                    </a:solidFill>
                  </a:tcPr>
                </a:tc>
                <a:extLst>
                  <a:ext uri="{0D108BD9-81ED-4DB2-BD59-A6C34878D82A}">
                    <a16:rowId xmlns:a16="http://schemas.microsoft.com/office/drawing/2014/main" val="10003"/>
                  </a:ext>
                </a:extLst>
              </a:tr>
              <a:tr h="450000">
                <a:tc>
                  <a:txBody>
                    <a:bodyPr/>
                    <a:lstStyle/>
                    <a:p>
                      <a:pPr algn="l"/>
                      <a:r>
                        <a:rPr lang="en-IN" sz="1200" b="0" kern="1200" dirty="0">
                          <a:solidFill>
                            <a:schemeClr val="dk1"/>
                          </a:solidFill>
                          <a:effectLst/>
                          <a:latin typeface="Times New Roman" panose="02020603050405020304" pitchFamily="18" charset="0"/>
                          <a:ea typeface="+mn-ea"/>
                          <a:cs typeface="Times New Roman" panose="02020603050405020304" pitchFamily="18" charset="0"/>
                        </a:rPr>
                        <a:t>IPO Data Retrieval &amp; GMP Tracking</a:t>
                      </a:r>
                      <a:endParaRPr lang="en-US" sz="1200" b="0" dirty="0">
                        <a:solidFill>
                          <a:srgbClr val="000000"/>
                        </a:solidFill>
                        <a:latin typeface="Times New Roman" panose="02020603050405020304" pitchFamily="18" charset="0"/>
                        <a:cs typeface="Times New Roman" panose="02020603050405020304" pitchFamily="18" charset="0"/>
                      </a:endParaRPr>
                    </a:p>
                  </a:txBody>
                  <a:tcPr marL="45720" marR="45720" marT="22860" marB="22860" anchor="ctr">
                    <a:solidFill>
                      <a:srgbClr val="F2F2F2"/>
                    </a:solidFill>
                  </a:tcPr>
                </a:tc>
                <a:tc>
                  <a:txBody>
                    <a:bodyPr/>
                    <a:lstStyle/>
                    <a:p>
                      <a:pPr algn="ctr"/>
                      <a:r>
                        <a:rPr lang="en-US" sz="1100" b="0" dirty="0">
                          <a:solidFill>
                            <a:srgbClr val="000000"/>
                          </a:solidFill>
                          <a:latin typeface="Times New Roman" panose="02020603050405020304" pitchFamily="18" charset="0"/>
                          <a:cs typeface="Times New Roman" panose="02020603050405020304" pitchFamily="18" charset="0"/>
                        </a:rPr>
                        <a:t>22</a:t>
                      </a:r>
                    </a:p>
                  </a:txBody>
                  <a:tcPr marL="45720" marR="45720" marT="22860" marB="22860" anchor="ctr">
                    <a:solidFill>
                      <a:srgbClr val="F2F2F2"/>
                    </a:solidFill>
                  </a:tcPr>
                </a:tc>
                <a:tc>
                  <a:txBody>
                    <a:bodyPr/>
                    <a:lstStyle/>
                    <a:p>
                      <a:pPr algn="ctr"/>
                      <a:r>
                        <a:rPr lang="en-US" sz="1100" b="0" dirty="0">
                          <a:solidFill>
                            <a:srgbClr val="000000"/>
                          </a:solidFill>
                          <a:latin typeface="Times New Roman" panose="02020603050405020304" pitchFamily="18" charset="0"/>
                          <a:cs typeface="Times New Roman" panose="02020603050405020304" pitchFamily="18" charset="0"/>
                        </a:rPr>
                        <a:t>22</a:t>
                      </a:r>
                    </a:p>
                  </a:txBody>
                  <a:tcPr marL="45720" marR="45720" marT="22860" marB="22860" anchor="ctr">
                    <a:solidFill>
                      <a:srgbClr val="F2F2F2"/>
                    </a:solidFill>
                  </a:tcPr>
                </a:tc>
                <a:tc>
                  <a:txBody>
                    <a:bodyPr/>
                    <a:lstStyle/>
                    <a:p>
                      <a:pPr algn="ctr"/>
                      <a:r>
                        <a:rPr lang="en-US" sz="1100" b="1" dirty="0">
                          <a:solidFill>
                            <a:srgbClr val="1E8E5A"/>
                          </a:solidFill>
                          <a:latin typeface="Times New Roman" panose="02020603050405020304" pitchFamily="18" charset="0"/>
                          <a:cs typeface="Times New Roman" panose="02020603050405020304" pitchFamily="18" charset="0"/>
                        </a:rPr>
                        <a:t>100%</a:t>
                      </a:r>
                    </a:p>
                  </a:txBody>
                  <a:tcPr marL="45720" marR="45720" marT="22860" marB="22860" anchor="ctr">
                    <a:solidFill>
                      <a:srgbClr val="F2F2F2"/>
                    </a:solidFill>
                  </a:tcPr>
                </a:tc>
                <a:extLst>
                  <a:ext uri="{0D108BD9-81ED-4DB2-BD59-A6C34878D82A}">
                    <a16:rowId xmlns:a16="http://schemas.microsoft.com/office/drawing/2014/main" val="10004"/>
                  </a:ext>
                </a:extLst>
              </a:tr>
              <a:tr h="450000">
                <a:tc>
                  <a:txBody>
                    <a:bodyPr/>
                    <a:lstStyle/>
                    <a:p>
                      <a:pPr algn="l"/>
                      <a:r>
                        <a:rPr lang="en-IN" sz="1200" b="0" kern="1200" dirty="0">
                          <a:solidFill>
                            <a:schemeClr val="dk1"/>
                          </a:solidFill>
                          <a:effectLst/>
                          <a:latin typeface="Times New Roman" panose="02020603050405020304" pitchFamily="18" charset="0"/>
                          <a:ea typeface="+mn-ea"/>
                          <a:cs typeface="Times New Roman" panose="02020603050405020304" pitchFamily="18" charset="0"/>
                        </a:rPr>
                        <a:t>Alert Bus &amp; Notification System</a:t>
                      </a:r>
                      <a:endParaRPr lang="en-US" sz="1200" b="0" dirty="0">
                        <a:solidFill>
                          <a:srgbClr val="000000"/>
                        </a:solidFill>
                        <a:latin typeface="Times New Roman" panose="02020603050405020304" pitchFamily="18" charset="0"/>
                        <a:cs typeface="Times New Roman" panose="02020603050405020304" pitchFamily="18" charset="0"/>
                      </a:endParaRPr>
                    </a:p>
                  </a:txBody>
                  <a:tcPr marL="45720" marR="45720" marT="22860" marB="22860" anchor="ctr">
                    <a:solidFill>
                      <a:srgbClr val="FFFFFF"/>
                    </a:solidFill>
                  </a:tcPr>
                </a:tc>
                <a:tc>
                  <a:txBody>
                    <a:bodyPr/>
                    <a:lstStyle/>
                    <a:p>
                      <a:pPr algn="ctr"/>
                      <a:r>
                        <a:rPr lang="en-US" sz="1100" b="0" dirty="0">
                          <a:solidFill>
                            <a:srgbClr val="000000"/>
                          </a:solidFill>
                          <a:latin typeface="Times New Roman" panose="02020603050405020304" pitchFamily="18" charset="0"/>
                          <a:cs typeface="Times New Roman" panose="02020603050405020304" pitchFamily="18" charset="0"/>
                        </a:rPr>
                        <a:t>15</a:t>
                      </a:r>
                    </a:p>
                  </a:txBody>
                  <a:tcPr marL="45720" marR="45720" marT="22860" marB="22860" anchor="ctr">
                    <a:solidFill>
                      <a:srgbClr val="FFFFFF"/>
                    </a:solidFill>
                  </a:tcPr>
                </a:tc>
                <a:tc>
                  <a:txBody>
                    <a:bodyPr/>
                    <a:lstStyle/>
                    <a:p>
                      <a:pPr algn="ctr"/>
                      <a:r>
                        <a:rPr lang="en-US" sz="1100" b="0" dirty="0">
                          <a:solidFill>
                            <a:srgbClr val="000000"/>
                          </a:solidFill>
                          <a:latin typeface="Times New Roman" panose="02020603050405020304" pitchFamily="18" charset="0"/>
                          <a:cs typeface="Times New Roman" panose="02020603050405020304" pitchFamily="18" charset="0"/>
                        </a:rPr>
                        <a:t>15</a:t>
                      </a:r>
                    </a:p>
                  </a:txBody>
                  <a:tcPr marL="45720" marR="45720" marT="22860" marB="22860" anchor="ctr">
                    <a:solidFill>
                      <a:srgbClr val="FFFFFF"/>
                    </a:solidFill>
                  </a:tcPr>
                </a:tc>
                <a:tc>
                  <a:txBody>
                    <a:bodyPr/>
                    <a:lstStyle/>
                    <a:p>
                      <a:pPr algn="ctr"/>
                      <a:r>
                        <a:rPr lang="en-US" sz="1100" b="1" dirty="0">
                          <a:solidFill>
                            <a:srgbClr val="1E8E5A"/>
                          </a:solidFill>
                          <a:latin typeface="Times New Roman" panose="02020603050405020304" pitchFamily="18" charset="0"/>
                          <a:cs typeface="Times New Roman" panose="02020603050405020304" pitchFamily="18" charset="0"/>
                        </a:rPr>
                        <a:t>100%</a:t>
                      </a:r>
                    </a:p>
                  </a:txBody>
                  <a:tcPr marL="45720" marR="45720" marT="22860" marB="22860" anchor="ctr">
                    <a:solidFill>
                      <a:srgbClr val="FFFFFF"/>
                    </a:solidFill>
                  </a:tcPr>
                </a:tc>
                <a:extLst>
                  <a:ext uri="{0D108BD9-81ED-4DB2-BD59-A6C34878D82A}">
                    <a16:rowId xmlns:a16="http://schemas.microsoft.com/office/drawing/2014/main" val="10005"/>
                  </a:ext>
                </a:extLst>
              </a:tr>
              <a:tr h="450000">
                <a:tc>
                  <a:txBody>
                    <a:bodyPr/>
                    <a:lstStyle/>
                    <a:p>
                      <a:pPr algn="l"/>
                      <a:r>
                        <a:rPr lang="en-IN" sz="1200" b="0" kern="1200" dirty="0">
                          <a:solidFill>
                            <a:schemeClr val="dk1"/>
                          </a:solidFill>
                          <a:effectLst/>
                          <a:latin typeface="Times New Roman" panose="02020603050405020304" pitchFamily="18" charset="0"/>
                          <a:ea typeface="+mn-ea"/>
                          <a:cs typeface="Times New Roman" panose="02020603050405020304" pitchFamily="18" charset="0"/>
                        </a:rPr>
                        <a:t>Edge Cases &amp; Error Handling</a:t>
                      </a:r>
                      <a:endParaRPr lang="en-US" sz="1200" b="0" dirty="0">
                        <a:solidFill>
                          <a:srgbClr val="000000"/>
                        </a:solidFill>
                        <a:latin typeface="Times New Roman" panose="02020603050405020304" pitchFamily="18" charset="0"/>
                        <a:cs typeface="Times New Roman" panose="02020603050405020304" pitchFamily="18" charset="0"/>
                      </a:endParaRPr>
                    </a:p>
                  </a:txBody>
                  <a:tcPr marL="45720" marR="45720" marT="22860" marB="22860" anchor="ctr">
                    <a:solidFill>
                      <a:srgbClr val="F2F2F2"/>
                    </a:solidFill>
                  </a:tcPr>
                </a:tc>
                <a:tc>
                  <a:txBody>
                    <a:bodyPr/>
                    <a:lstStyle/>
                    <a:p>
                      <a:pPr algn="ctr"/>
                      <a:r>
                        <a:rPr lang="en-US" sz="1100" b="0" dirty="0">
                          <a:solidFill>
                            <a:srgbClr val="000000"/>
                          </a:solidFill>
                          <a:latin typeface="Times New Roman" panose="02020603050405020304" pitchFamily="18" charset="0"/>
                          <a:cs typeface="Times New Roman" panose="02020603050405020304" pitchFamily="18" charset="0"/>
                        </a:rPr>
                        <a:t>12</a:t>
                      </a:r>
                    </a:p>
                  </a:txBody>
                  <a:tcPr marL="45720" marR="45720" marT="22860" marB="22860" anchor="ctr">
                    <a:solidFill>
                      <a:srgbClr val="F2F2F2"/>
                    </a:solidFill>
                  </a:tcPr>
                </a:tc>
                <a:tc>
                  <a:txBody>
                    <a:bodyPr/>
                    <a:lstStyle/>
                    <a:p>
                      <a:pPr algn="ctr"/>
                      <a:r>
                        <a:rPr lang="en-US" sz="1100" b="0" dirty="0">
                          <a:solidFill>
                            <a:srgbClr val="000000"/>
                          </a:solidFill>
                          <a:latin typeface="Times New Roman" panose="02020603050405020304" pitchFamily="18" charset="0"/>
                          <a:cs typeface="Times New Roman" panose="02020603050405020304" pitchFamily="18" charset="0"/>
                        </a:rPr>
                        <a:t>12</a:t>
                      </a:r>
                    </a:p>
                  </a:txBody>
                  <a:tcPr marL="45720" marR="45720" marT="22860" marB="22860" anchor="ctr">
                    <a:solidFill>
                      <a:srgbClr val="F2F2F2"/>
                    </a:solidFill>
                  </a:tcPr>
                </a:tc>
                <a:tc>
                  <a:txBody>
                    <a:bodyPr/>
                    <a:lstStyle/>
                    <a:p>
                      <a:pPr algn="ctr"/>
                      <a:r>
                        <a:rPr lang="en-US" sz="1100" b="1" dirty="0">
                          <a:solidFill>
                            <a:srgbClr val="1E8E5A"/>
                          </a:solidFill>
                          <a:latin typeface="Times New Roman" panose="02020603050405020304" pitchFamily="18" charset="0"/>
                          <a:cs typeface="Times New Roman" panose="02020603050405020304" pitchFamily="18" charset="0"/>
                        </a:rPr>
                        <a:t>100%</a:t>
                      </a:r>
                    </a:p>
                  </a:txBody>
                  <a:tcPr marL="45720" marR="45720" marT="22860" marB="22860" anchor="ctr">
                    <a:solidFill>
                      <a:srgbClr val="F2F2F2"/>
                    </a:solidFill>
                  </a:tcPr>
                </a:tc>
                <a:extLst>
                  <a:ext uri="{0D108BD9-81ED-4DB2-BD59-A6C34878D82A}">
                    <a16:rowId xmlns:a16="http://schemas.microsoft.com/office/drawing/2014/main" val="10006"/>
                  </a:ext>
                </a:extLst>
              </a:tr>
              <a:tr h="450000">
                <a:tc>
                  <a:txBody>
                    <a:bodyPr/>
                    <a:lstStyle/>
                    <a:p>
                      <a:pPr algn="l"/>
                      <a:r>
                        <a:rPr lang="en-US" sz="1100" b="1">
                          <a:solidFill>
                            <a:srgbClr val="000000"/>
                          </a:solidFill>
                          <a:latin typeface="Times New Roman" panose="02020603050405020304" pitchFamily="18" charset="0"/>
                          <a:cs typeface="Times New Roman" panose="02020603050405020304" pitchFamily="18" charset="0"/>
                        </a:rPr>
                        <a:t>Total</a:t>
                      </a:r>
                    </a:p>
                  </a:txBody>
                  <a:tcPr marL="45720" marR="45720" marT="22860" marB="22860" anchor="ctr">
                    <a:solidFill>
                      <a:srgbClr val="FFC000"/>
                    </a:solidFill>
                  </a:tcPr>
                </a:tc>
                <a:tc>
                  <a:txBody>
                    <a:bodyPr/>
                    <a:lstStyle/>
                    <a:p>
                      <a:pPr algn="ctr"/>
                      <a:r>
                        <a:rPr lang="en-US" sz="1100" b="1" dirty="0">
                          <a:solidFill>
                            <a:srgbClr val="000000"/>
                          </a:solidFill>
                          <a:latin typeface="Times New Roman" panose="02020603050405020304" pitchFamily="18" charset="0"/>
                          <a:cs typeface="Times New Roman" panose="02020603050405020304" pitchFamily="18" charset="0"/>
                        </a:rPr>
                        <a:t>112</a:t>
                      </a:r>
                    </a:p>
                  </a:txBody>
                  <a:tcPr marL="45720" marR="45720" marT="22860" marB="22860" anchor="ctr">
                    <a:solidFill>
                      <a:srgbClr val="FFC000"/>
                    </a:solidFill>
                  </a:tcPr>
                </a:tc>
                <a:tc>
                  <a:txBody>
                    <a:bodyPr/>
                    <a:lstStyle/>
                    <a:p>
                      <a:pPr algn="ctr"/>
                      <a:r>
                        <a:rPr lang="en-US" sz="1100" b="1" dirty="0">
                          <a:solidFill>
                            <a:srgbClr val="000000"/>
                          </a:solidFill>
                          <a:latin typeface="Times New Roman" panose="02020603050405020304" pitchFamily="18" charset="0"/>
                          <a:cs typeface="Times New Roman" panose="02020603050405020304" pitchFamily="18" charset="0"/>
                        </a:rPr>
                        <a:t>112</a:t>
                      </a:r>
                    </a:p>
                  </a:txBody>
                  <a:tcPr marL="45720" marR="45720" marT="22860" marB="22860" anchor="ctr">
                    <a:solidFill>
                      <a:srgbClr val="FFC000"/>
                    </a:solidFill>
                  </a:tcPr>
                </a:tc>
                <a:tc>
                  <a:txBody>
                    <a:bodyPr/>
                    <a:lstStyle/>
                    <a:p>
                      <a:pPr algn="ctr"/>
                      <a:r>
                        <a:rPr lang="en-US" sz="1100" b="1" dirty="0">
                          <a:solidFill>
                            <a:srgbClr val="1E8E5A"/>
                          </a:solidFill>
                          <a:latin typeface="Times New Roman" panose="02020603050405020304" pitchFamily="18" charset="0"/>
                          <a:cs typeface="Times New Roman" panose="02020603050405020304" pitchFamily="18" charset="0"/>
                        </a:rPr>
                        <a:t>100%</a:t>
                      </a:r>
                    </a:p>
                  </a:txBody>
                  <a:tcPr marL="45720" marR="45720" marT="22860" marB="22860" anchor="ctr">
                    <a:solidFill>
                      <a:srgbClr val="FFC000"/>
                    </a:solidFill>
                  </a:tcPr>
                </a:tc>
                <a:extLst>
                  <a:ext uri="{0D108BD9-81ED-4DB2-BD59-A6C34878D82A}">
                    <a16:rowId xmlns:a16="http://schemas.microsoft.com/office/drawing/2014/main" val="10007"/>
                  </a:ext>
                </a:extLst>
              </a:tr>
            </a:tbl>
          </a:graphicData>
        </a:graphic>
      </p:graphicFrame>
      <p:sp>
        <p:nvSpPr>
          <p:cNvPr id="201" name="StatCallout"/>
          <p:cNvSpPr/>
          <p:nvPr/>
        </p:nvSpPr>
        <p:spPr>
          <a:xfrm>
            <a:off x="5943600" y="5406600"/>
            <a:ext cx="5709600" cy="800000"/>
          </a:xfrm>
          <a:prstGeom prst="rect">
            <a:avLst/>
          </a:prstGeom>
          <a:noFill/>
          <a:ln w="0">
            <a:noFill/>
          </a:ln>
        </p:spPr>
        <p:style>
          <a:lnRef idx="0">
            <a:scrgbClr r="0" g="0" b="0"/>
          </a:lnRef>
          <a:fillRef idx="0">
            <a:scrgbClr r="0" g="0" b="0"/>
          </a:fillRef>
          <a:effectRef idx="0">
            <a:scrgbClr r="0" g="0" b="0"/>
          </a:effectRef>
          <a:fontRef idx="minor"/>
        </p:style>
        <p:txBody>
          <a:bodyPr lIns="0" tIns="0">
            <a:noAutofit/>
          </a:bodyPr>
          <a:lstStyle/>
          <a:p>
            <a:pPr algn="l">
              <a:buNone/>
            </a:pPr>
            <a:r>
              <a:rPr lang="en-US" sz="2400" b="1" strike="noStrike" dirty="0">
                <a:solidFill>
                  <a:srgbClr val="C00000"/>
                </a:solidFill>
                <a:latin typeface="Times New Roman" panose="02020603050405020304" pitchFamily="18" charset="0"/>
                <a:cs typeface="Times New Roman" panose="02020603050405020304" pitchFamily="18" charset="0"/>
              </a:rPr>
              <a:t>100% </a:t>
            </a:r>
            <a:r>
              <a:rPr lang="en-US" sz="1200" b="0" strike="noStrike" dirty="0">
                <a:solidFill>
                  <a:srgbClr val="000000"/>
                </a:solidFill>
                <a:latin typeface="Times New Roman" panose="02020603050405020304" pitchFamily="18" charset="0"/>
                <a:cs typeface="Times New Roman" panose="02020603050405020304" pitchFamily="18" charset="0"/>
              </a:rPr>
              <a:t>overall pass rate across all </a:t>
            </a:r>
            <a:r>
              <a:rPr lang="en-US" sz="1200" dirty="0">
                <a:solidFill>
                  <a:srgbClr val="000000"/>
                </a:solidFill>
                <a:latin typeface="Times New Roman" panose="02020603050405020304" pitchFamily="18" charset="0"/>
                <a:cs typeface="Times New Roman" panose="02020603050405020304" pitchFamily="18" charset="0"/>
              </a:rPr>
              <a:t>112 </a:t>
            </a:r>
            <a:r>
              <a:rPr lang="en-US" sz="1200" b="0" strike="noStrike" dirty="0">
                <a:solidFill>
                  <a:srgbClr val="000000"/>
                </a:solidFill>
                <a:latin typeface="Times New Roman" panose="02020603050405020304" pitchFamily="18" charset="0"/>
                <a:cs typeface="Times New Roman" panose="02020603050405020304" pitchFamily="18" charset="0"/>
              </a:rPr>
              <a:t>black-box test cases, with zero failure.</a:t>
            </a:r>
          </a:p>
        </p:txBody>
      </p:sp>
      <p:pic>
        <p:nvPicPr>
          <p:cNvPr id="3" name="Picture 2">
            <a:extLst>
              <a:ext uri="{FF2B5EF4-FFF2-40B4-BE49-F238E27FC236}">
                <a16:creationId xmlns:a16="http://schemas.microsoft.com/office/drawing/2014/main" id="{559D27F4-1979-6373-BBD9-D508B45B31BD}"/>
              </a:ext>
            </a:extLst>
          </p:cNvPr>
          <p:cNvPicPr>
            <a:picLocks noChangeAspect="1"/>
          </p:cNvPicPr>
          <p:nvPr/>
        </p:nvPicPr>
        <p:blipFill>
          <a:blip r:embed="rId3"/>
          <a:stretch>
            <a:fillRect/>
          </a:stretch>
        </p:blipFill>
        <p:spPr>
          <a:xfrm>
            <a:off x="673287" y="4315999"/>
            <a:ext cx="1981201" cy="19812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Shape 1"/>
          <p:cNvSpPr/>
          <p:nvPr/>
        </p:nvSpPr>
        <p:spPr>
          <a:xfrm>
            <a:off x="533520" y="426960"/>
            <a:ext cx="10972080" cy="11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buNone/>
            </a:pPr>
            <a:r>
              <a:rPr lang="en-US" sz="4000" b="0" strike="noStrike" spc="-1" dirty="0">
                <a:solidFill>
                  <a:srgbClr val="000000"/>
                </a:solidFill>
                <a:latin typeface="Times New Roman" panose="02020603050405020304" pitchFamily="18" charset="0"/>
                <a:cs typeface="Times New Roman" panose="02020603050405020304" pitchFamily="18" charset="0"/>
              </a:rPr>
              <a:t>Performance Discussion</a:t>
            </a:r>
            <a:endParaRPr lang="en-IN" sz="4000" b="0" strike="noStrike" spc="-1" dirty="0">
              <a:latin typeface="Times New Roman" panose="02020603050405020304" pitchFamily="18" charset="0"/>
              <a:cs typeface="Times New Roman" panose="02020603050405020304" pitchFamily="18" charset="0"/>
            </a:endParaRPr>
          </a:p>
        </p:txBody>
      </p:sp>
      <p:sp>
        <p:nvSpPr>
          <p:cNvPr id="143" name="TextShape 2"/>
          <p:cNvSpPr/>
          <p:nvPr/>
        </p:nvSpPr>
        <p:spPr>
          <a:xfrm>
            <a:off x="3191969" y="1645048"/>
            <a:ext cx="6245844" cy="130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sz="1600" b="1" dirty="0">
                <a:latin typeface="Times New Roman" panose="02020603050405020304" pitchFamily="18" charset="0"/>
                <a:cs typeface="Times New Roman" panose="02020603050405020304" pitchFamily="18" charset="0"/>
              </a:rPr>
              <a:t>Ticker Performance</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8-second polling cycle for near-real-time price updates</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Sub-100ms UI interaction response time</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Non-blocking async event loops prevent main thread locks</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Accurate IST session detection: 09:15 AM – 03:30 PM, Mon–Fri</a:t>
            </a:r>
          </a:p>
          <a:p>
            <a:pPr algn="l">
              <a:buNone/>
            </a:pPr>
            <a:endParaRPr lang="en-US" sz="1600" b="0" strike="noStrike" dirty="0">
              <a:solidFill>
                <a:srgbClr val="00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55410E7-2C88-482D-FCB4-F5437D7C8E9F}"/>
              </a:ext>
            </a:extLst>
          </p:cNvPr>
          <p:cNvPicPr>
            <a:picLocks noChangeAspect="1"/>
          </p:cNvPicPr>
          <p:nvPr/>
        </p:nvPicPr>
        <p:blipFill>
          <a:blip r:embed="rId2"/>
          <a:stretch>
            <a:fillRect/>
          </a:stretch>
        </p:blipFill>
        <p:spPr>
          <a:xfrm>
            <a:off x="372985" y="3986428"/>
            <a:ext cx="1652314" cy="1652314"/>
          </a:xfrm>
          <a:prstGeom prst="rect">
            <a:avLst/>
          </a:prstGeom>
        </p:spPr>
      </p:pic>
      <p:sp>
        <p:nvSpPr>
          <p:cNvPr id="4" name="TextBox 3">
            <a:extLst>
              <a:ext uri="{FF2B5EF4-FFF2-40B4-BE49-F238E27FC236}">
                <a16:creationId xmlns:a16="http://schemas.microsoft.com/office/drawing/2014/main" id="{706CDB5E-EFBD-04D8-C4BA-4AC0850F016E}"/>
              </a:ext>
            </a:extLst>
          </p:cNvPr>
          <p:cNvSpPr txBox="1"/>
          <p:nvPr/>
        </p:nvSpPr>
        <p:spPr>
          <a:xfrm>
            <a:off x="3191969" y="3130434"/>
            <a:ext cx="6245844" cy="1323439"/>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Causal DAG Engine</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O(V + E) topological sort — rapid propagation through large financial networks</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Multi-order ripple </a:t>
            </a:r>
            <a:r>
              <a:rPr lang="en-IN" sz="1600" dirty="0" err="1">
                <a:latin typeface="Times New Roman" panose="02020603050405020304" pitchFamily="18" charset="0"/>
                <a:cs typeface="Times New Roman" panose="02020603050405020304" pitchFamily="18" charset="0"/>
              </a:rPr>
              <a:t>modeling</a:t>
            </a:r>
            <a:r>
              <a:rPr lang="en-IN" sz="1600" dirty="0">
                <a:latin typeface="Times New Roman" panose="02020603050405020304" pitchFamily="18" charset="0"/>
                <a:cs typeface="Times New Roman" panose="02020603050405020304" pitchFamily="18" charset="0"/>
              </a:rPr>
              <a:t>: commodity → margin → equity</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Weighted confidence scoring prevents false signal generation</a:t>
            </a:r>
          </a:p>
        </p:txBody>
      </p:sp>
      <p:sp>
        <p:nvSpPr>
          <p:cNvPr id="6" name="TextBox 5">
            <a:extLst>
              <a:ext uri="{FF2B5EF4-FFF2-40B4-BE49-F238E27FC236}">
                <a16:creationId xmlns:a16="http://schemas.microsoft.com/office/drawing/2014/main" id="{DD698C77-F056-F1A3-413A-7532AD030585}"/>
              </a:ext>
            </a:extLst>
          </p:cNvPr>
          <p:cNvSpPr txBox="1"/>
          <p:nvPr/>
        </p:nvSpPr>
        <p:spPr>
          <a:xfrm>
            <a:off x="3191969" y="4615112"/>
            <a:ext cx="7075054" cy="1077218"/>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IPO Hub &amp; GMP</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Live Chittorgarh dataset with real-time GMP updates</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Listing gain projection: upper cap + GMP formula</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Seamless multi-tab filtering: Open, Closed, Upcoming, Applied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Shape 1"/>
          <p:cNvSpPr/>
          <p:nvPr/>
        </p:nvSpPr>
        <p:spPr>
          <a:xfrm>
            <a:off x="533520" y="426960"/>
            <a:ext cx="10972080" cy="11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buNone/>
            </a:pPr>
            <a:r>
              <a:rPr lang="en-US" sz="4000" b="0" strike="noStrike" spc="-1" dirty="0">
                <a:solidFill>
                  <a:srgbClr val="000000"/>
                </a:solidFill>
                <a:latin typeface="Times New Roman" panose="02020603050405020304" pitchFamily="18" charset="0"/>
                <a:cs typeface="Times New Roman" panose="02020603050405020304" pitchFamily="18" charset="0"/>
              </a:rPr>
              <a:t>Limitations, Conclusion &amp; Future Work</a:t>
            </a:r>
            <a:endParaRPr lang="en-IN" sz="4000" b="0" strike="noStrike" spc="-1" dirty="0">
              <a:latin typeface="Times New Roman" panose="02020603050405020304" pitchFamily="18" charset="0"/>
              <a:cs typeface="Times New Roman" panose="02020603050405020304" pitchFamily="18" charset="0"/>
            </a:endParaRPr>
          </a:p>
        </p:txBody>
      </p:sp>
      <p:sp>
        <p:nvSpPr>
          <p:cNvPr id="143" name="TextShape 2"/>
          <p:cNvSpPr/>
          <p:nvPr/>
        </p:nvSpPr>
        <p:spPr>
          <a:xfrm>
            <a:off x="144293" y="1411154"/>
            <a:ext cx="5875267" cy="1422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lvl="0"/>
            <a:r>
              <a:rPr lang="en-US" b="1" strike="noStrike" dirty="0">
                <a:solidFill>
                  <a:srgbClr val="C00000"/>
                </a:solidFill>
                <a:latin typeface="Times New Roman" panose="02020603050405020304" pitchFamily="18" charset="0"/>
                <a:cs typeface="Times New Roman" panose="02020603050405020304" pitchFamily="18" charset="0"/>
              </a:rPr>
              <a:t>Limitations</a:t>
            </a:r>
          </a:p>
          <a:p>
            <a:pPr marL="285750" lvl="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CORS Proxy Dependency:</a:t>
            </a:r>
            <a:r>
              <a:rPr lang="en-IN" sz="1400" dirty="0">
                <a:latin typeface="Times New Roman" panose="02020603050405020304" pitchFamily="18" charset="0"/>
                <a:cs typeface="Times New Roman" panose="02020603050405020304" pitchFamily="18" charset="0"/>
              </a:rPr>
              <a:t> Reliance on public CORS proxies ('</a:t>
            </a:r>
            <a:r>
              <a:rPr lang="en-IN" sz="1400" dirty="0" err="1">
                <a:latin typeface="Times New Roman" panose="02020603050405020304" pitchFamily="18" charset="0"/>
                <a:cs typeface="Times New Roman" panose="02020603050405020304" pitchFamily="18" charset="0"/>
              </a:rPr>
              <a:t>api.allorigins.win</a:t>
            </a:r>
            <a:r>
              <a:rPr lang="en-IN" sz="1400" dirty="0">
                <a:latin typeface="Times New Roman" panose="02020603050405020304" pitchFamily="18" charset="0"/>
                <a:cs typeface="Times New Roman" panose="02020603050405020304" pitchFamily="18" charset="0"/>
              </a:rPr>
              <a:t>', 'corsproxy.io') during extreme market traffic peaks may introduce temporary latency.</a:t>
            </a:r>
          </a:p>
          <a:p>
            <a:pPr marL="285750" lvl="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Client-Side Polling vs WebSocket:</a:t>
            </a:r>
            <a:r>
              <a:rPr lang="en-IN" sz="1400" dirty="0">
                <a:latin typeface="Times New Roman" panose="02020603050405020304" pitchFamily="18" charset="0"/>
                <a:cs typeface="Times New Roman" panose="02020603050405020304" pitchFamily="18" charset="0"/>
              </a:rPr>
              <a:t> Current REST polling architecture lacks native WebSocket co-location sockets available to institutional brokers.</a:t>
            </a:r>
          </a:p>
          <a:p>
            <a:pPr marL="285750" lvl="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Browser Storage Constraints:</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LocalStorage</a:t>
            </a:r>
            <a:r>
              <a:rPr lang="en-IN" sz="1400" dirty="0">
                <a:latin typeface="Times New Roman" panose="02020603050405020304" pitchFamily="18" charset="0"/>
                <a:cs typeface="Times New Roman" panose="02020603050405020304" pitchFamily="18" charset="0"/>
              </a:rPr>
              <a:t> caching limited to ~5-10MB per domain; large historical datasets require backend persistence.</a:t>
            </a:r>
          </a:p>
          <a:p>
            <a:pPr marL="285750" lvl="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Regulatory Uncertainty:</a:t>
            </a:r>
            <a:r>
              <a:rPr lang="en-IN" sz="1400" dirty="0">
                <a:latin typeface="Times New Roman" panose="02020603050405020304" pitchFamily="18" charset="0"/>
                <a:cs typeface="Times New Roman" panose="02020603050405020304" pitchFamily="18" charset="0"/>
              </a:rPr>
              <a:t> Potential future regulatory shifts regarding retail automated signal generation and algorithmic trading restrictions.</a:t>
            </a:r>
          </a:p>
          <a:p>
            <a:pPr marL="285750" lvl="0" indent="-285750">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Rate-Limiting Policies:</a:t>
            </a:r>
            <a:r>
              <a:rPr lang="en-IN" sz="1400" dirty="0">
                <a:latin typeface="Times New Roman" panose="02020603050405020304" pitchFamily="18" charset="0"/>
                <a:cs typeface="Times New Roman" panose="02020603050405020304" pitchFamily="18" charset="0"/>
              </a:rPr>
              <a:t> Public API endpoints subject to rate-limiting during high-volume trading sessions.</a:t>
            </a:r>
          </a:p>
          <a:p>
            <a:pPr algn="l">
              <a:buNone/>
            </a:pPr>
            <a:endParaRPr lang="en-US" sz="1600" b="1" strike="noStrike" dirty="0">
              <a:solidFill>
                <a:srgbClr val="C00000"/>
              </a:solidFill>
              <a:latin typeface="Calibri"/>
            </a:endParaRPr>
          </a:p>
        </p:txBody>
      </p:sp>
      <p:sp>
        <p:nvSpPr>
          <p:cNvPr id="144" name="TextShape 3"/>
          <p:cNvSpPr/>
          <p:nvPr/>
        </p:nvSpPr>
        <p:spPr>
          <a:xfrm>
            <a:off x="6172440" y="1349010"/>
            <a:ext cx="5875267" cy="314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l">
              <a:buNone/>
            </a:pPr>
            <a:endParaRPr lang="en-US" sz="1050" b="1" strike="noStrike" dirty="0">
              <a:solidFill>
                <a:srgbClr val="C00000"/>
              </a:solidFill>
              <a:latin typeface="Calibri"/>
            </a:endParaRPr>
          </a:p>
          <a:p>
            <a:pPr algn="l">
              <a:buNone/>
            </a:pPr>
            <a:r>
              <a:rPr lang="en-US" b="1" strike="noStrike" dirty="0">
                <a:solidFill>
                  <a:srgbClr val="C00000"/>
                </a:solidFill>
                <a:latin typeface="Times New Roman" panose="02020603050405020304" pitchFamily="18" charset="0"/>
                <a:cs typeface="Times New Roman" panose="02020603050405020304" pitchFamily="18" charset="0"/>
              </a:rPr>
              <a:t>Conclusion</a:t>
            </a:r>
          </a:p>
          <a:p>
            <a:r>
              <a:rPr lang="en-IN" sz="1400" dirty="0">
                <a:latin typeface="Times New Roman" panose="02020603050405020304" pitchFamily="18" charset="0"/>
                <a:cs typeface="Times New Roman" panose="02020603050405020304" pitchFamily="18" charset="0"/>
              </a:rPr>
              <a:t>VITTIYA successfully unifies real-time market data streaming, non-linear causal risk analytics, and institutional IPO tracking into a single, high-performance financial intelligence terminal. With a 100% test pass rate across 112 comprehensive black-box test cases, the system addresses critical vulnerabilities in retail financial tools—data latency, price distortion, and absence of causal risk </a:t>
            </a:r>
            <a:r>
              <a:rPr lang="en-IN" sz="1400" dirty="0" err="1">
                <a:latin typeface="Times New Roman" panose="02020603050405020304" pitchFamily="18" charset="0"/>
                <a:cs typeface="Times New Roman" panose="02020603050405020304" pitchFamily="18" charset="0"/>
              </a:rPr>
              <a:t>modeling</a:t>
            </a:r>
            <a:r>
              <a:rPr lang="en-IN" sz="1400" dirty="0">
                <a:latin typeface="Times New Roman" panose="02020603050405020304" pitchFamily="18" charset="0"/>
                <a:cs typeface="Times New Roman" panose="02020603050405020304" pitchFamily="18" charset="0"/>
              </a:rPr>
              <a:t>—enabling informed capital allocation decisions. The modular React 18 architecture with TypeScript type safety ensures rapid integration of new asset classes, broker APIs, and analytical modules. Next steps include institutional broker API integration, fine-tuned LLM deployment, and pilot user testing to validate enterprise-grade reliability and performance.</a:t>
            </a:r>
          </a:p>
          <a:p>
            <a:pPr algn="l">
              <a:buNone/>
            </a:pPr>
            <a:endParaRPr lang="en-US" b="1" strike="noStrike" dirty="0">
              <a:solidFill>
                <a:srgbClr val="C00000"/>
              </a:solidFill>
              <a:latin typeface="Calibri"/>
            </a:endParaRPr>
          </a:p>
        </p:txBody>
      </p:sp>
      <p:sp>
        <p:nvSpPr>
          <p:cNvPr id="4" name="TextBox 3">
            <a:extLst>
              <a:ext uri="{FF2B5EF4-FFF2-40B4-BE49-F238E27FC236}">
                <a16:creationId xmlns:a16="http://schemas.microsoft.com/office/drawing/2014/main" id="{31523B21-0F3F-67A6-8E50-F1323F8F3C9F}"/>
              </a:ext>
            </a:extLst>
          </p:cNvPr>
          <p:cNvSpPr txBox="1"/>
          <p:nvPr/>
        </p:nvSpPr>
        <p:spPr>
          <a:xfrm>
            <a:off x="144293" y="4630215"/>
            <a:ext cx="6094520" cy="1231106"/>
          </a:xfrm>
          <a:prstGeom prst="rect">
            <a:avLst/>
          </a:prstGeom>
          <a:noFill/>
        </p:spPr>
        <p:txBody>
          <a:bodyPr wrap="square">
            <a:spAutoFit/>
          </a:bodyPr>
          <a:lstStyle/>
          <a:p>
            <a:pPr algn="l">
              <a:buNone/>
            </a:pPr>
            <a:r>
              <a:rPr lang="en-US" sz="1800" b="1" strike="noStrike" dirty="0">
                <a:solidFill>
                  <a:srgbClr val="C00000"/>
                </a:solidFill>
                <a:latin typeface="Times New Roman" panose="02020603050405020304" pitchFamily="18" charset="0"/>
                <a:cs typeface="Times New Roman" panose="02020603050405020304" pitchFamily="18" charset="0"/>
              </a:rPr>
              <a:t>Future Work</a:t>
            </a:r>
            <a:endParaRPr lang="en-US" sz="1600" b="1" strike="noStrike" dirty="0">
              <a:solidFill>
                <a:srgbClr val="C00000"/>
              </a:solidFill>
              <a:latin typeface="Times New Roman" panose="02020603050405020304" pitchFamily="18" charset="0"/>
              <a:cs typeface="Times New Roman" panose="02020603050405020304" pitchFamily="18" charset="0"/>
            </a:endParaRPr>
          </a:p>
          <a:p>
            <a:pPr marL="228600" lvl="0" indent="-228600">
              <a:buFont typeface="+mj-lt"/>
              <a:buAutoNum type="arabicPeriod"/>
            </a:pPr>
            <a:r>
              <a:rPr lang="en-IN" sz="1400" b="1" dirty="0">
                <a:latin typeface="Times New Roman" panose="02020603050405020304" pitchFamily="18" charset="0"/>
                <a:cs typeface="Times New Roman" panose="02020603050405020304" pitchFamily="18" charset="0"/>
              </a:rPr>
              <a:t>Phase I:</a:t>
            </a:r>
            <a:r>
              <a:rPr lang="en-IN" sz="1400" dirty="0">
                <a:latin typeface="Times New Roman" panose="02020603050405020304" pitchFamily="18" charset="0"/>
                <a:cs typeface="Times New Roman" panose="02020603050405020304" pitchFamily="18" charset="0"/>
              </a:rPr>
              <a:t> Institutional brokerage APIs for one-click order execution.</a:t>
            </a:r>
          </a:p>
          <a:p>
            <a:pPr marL="228600" lvl="0" indent="-228600">
              <a:buFont typeface="+mj-lt"/>
              <a:buAutoNum type="arabicPeriod"/>
            </a:pPr>
            <a:r>
              <a:rPr lang="en-IN" sz="1400" b="1" dirty="0">
                <a:latin typeface="Times New Roman" panose="02020603050405020304" pitchFamily="18" charset="0"/>
                <a:cs typeface="Times New Roman" panose="02020603050405020304" pitchFamily="18" charset="0"/>
              </a:rPr>
              <a:t>Phase II:</a:t>
            </a:r>
            <a:r>
              <a:rPr lang="en-IN" sz="1400" dirty="0">
                <a:latin typeface="Times New Roman" panose="02020603050405020304" pitchFamily="18" charset="0"/>
                <a:cs typeface="Times New Roman" panose="02020603050405020304" pitchFamily="18" charset="0"/>
              </a:rPr>
              <a:t> Fine-tuned LLM pipeline for sentiment and impact scoring.</a:t>
            </a:r>
          </a:p>
          <a:p>
            <a:pPr marL="228600" lvl="0" indent="-228600">
              <a:buFont typeface="+mj-lt"/>
              <a:buAutoNum type="arabicPeriod"/>
            </a:pPr>
            <a:r>
              <a:rPr lang="en-IN" sz="1400" b="1" dirty="0">
                <a:latin typeface="Times New Roman" panose="02020603050405020304" pitchFamily="18" charset="0"/>
                <a:cs typeface="Times New Roman" panose="02020603050405020304" pitchFamily="18" charset="0"/>
              </a:rPr>
              <a:t>Phase III:</a:t>
            </a:r>
            <a:r>
              <a:rPr lang="en-IN" sz="1400" dirty="0">
                <a:latin typeface="Times New Roman" panose="02020603050405020304" pitchFamily="18" charset="0"/>
                <a:cs typeface="Times New Roman" panose="02020603050405020304" pitchFamily="18" charset="0"/>
              </a:rPr>
              <a:t> Advanced analytics, </a:t>
            </a:r>
            <a:r>
              <a:rPr lang="en-IN" sz="1400" dirty="0" err="1">
                <a:latin typeface="Times New Roman" panose="02020603050405020304" pitchFamily="18" charset="0"/>
                <a:cs typeface="Times New Roman" panose="02020603050405020304" pitchFamily="18" charset="0"/>
              </a:rPr>
              <a:t>backtesting</a:t>
            </a:r>
            <a:r>
              <a:rPr lang="en-IN" sz="1400" dirty="0">
                <a:latin typeface="Times New Roman" panose="02020603050405020304" pitchFamily="18" charset="0"/>
                <a:cs typeface="Times New Roman" panose="02020603050405020304" pitchFamily="18" charset="0"/>
              </a:rPr>
              <a:t>, and cross-source query coverage.</a:t>
            </a:r>
          </a:p>
          <a:p>
            <a:pPr marL="228600" lvl="0" indent="-228600">
              <a:buFont typeface="+mj-lt"/>
              <a:buAutoNum type="arabicPeriod"/>
            </a:pPr>
            <a:r>
              <a:rPr lang="en-IN" sz="1400" b="1" dirty="0">
                <a:latin typeface="Times New Roman" panose="02020603050405020304" pitchFamily="18" charset="0"/>
                <a:cs typeface="Times New Roman" panose="02020603050405020304" pitchFamily="18" charset="0"/>
              </a:rPr>
              <a:t>Phase IV:</a:t>
            </a:r>
            <a:r>
              <a:rPr lang="en-IN" sz="1400" dirty="0">
                <a:latin typeface="Times New Roman" panose="02020603050405020304" pitchFamily="18" charset="0"/>
                <a:cs typeface="Times New Roman" panose="02020603050405020304" pitchFamily="18" charset="0"/>
              </a:rPr>
              <a:t> Enterprise deployment, user pilots, and scalable regression testing.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extShape 1"/>
          <p:cNvSpPr/>
          <p:nvPr/>
        </p:nvSpPr>
        <p:spPr>
          <a:xfrm>
            <a:off x="533520" y="426960"/>
            <a:ext cx="10972080" cy="11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buNone/>
            </a:pPr>
            <a:r>
              <a:rPr lang="en-US" sz="4000" b="0" strike="noStrike" spc="-1" dirty="0">
                <a:solidFill>
                  <a:srgbClr val="000000"/>
                </a:solidFill>
                <a:latin typeface="Times New Roman" panose="02020603050405020304" pitchFamily="18" charset="0"/>
                <a:cs typeface="Times New Roman" panose="02020603050405020304" pitchFamily="18" charset="0"/>
              </a:rPr>
              <a:t>References</a:t>
            </a:r>
            <a:endParaRPr lang="en-IN" sz="4000" b="0" strike="noStrike" spc="-1" dirty="0">
              <a:latin typeface="Times New Roman" panose="02020603050405020304" pitchFamily="18" charset="0"/>
              <a:cs typeface="Times New Roman" panose="02020603050405020304" pitchFamily="18" charset="0"/>
            </a:endParaRPr>
          </a:p>
        </p:txBody>
      </p:sp>
      <p:sp>
        <p:nvSpPr>
          <p:cNvPr id="145" name="TextShape 2"/>
          <p:cNvSpPr/>
          <p:nvPr/>
        </p:nvSpPr>
        <p:spPr>
          <a:xfrm>
            <a:off x="549000" y="1326600"/>
            <a:ext cx="10972080" cy="4525200"/>
          </a:xfrm>
          <a:prstGeom prst="rect">
            <a:avLst/>
          </a:prstGeom>
          <a:noFill/>
          <a:ln w="0">
            <a:noFill/>
          </a:ln>
        </p:spPr>
        <p:style>
          <a:lnRef idx="0">
            <a:scrgbClr r="0" g="0" b="0"/>
          </a:lnRef>
          <a:fillRef idx="0">
            <a:scrgbClr r="0" g="0" b="0"/>
          </a:fillRef>
          <a:effectRef idx="0">
            <a:scrgbClr r="0" g="0" b="0"/>
          </a:effectRef>
          <a:fontRef idx="minor"/>
        </p:style>
      </p:sp>
      <p:sp>
        <p:nvSpPr>
          <p:cNvPr id="3" name="TextBox 2">
            <a:extLst>
              <a:ext uri="{FF2B5EF4-FFF2-40B4-BE49-F238E27FC236}">
                <a16:creationId xmlns:a16="http://schemas.microsoft.com/office/drawing/2014/main" id="{FD3E3DED-C349-F5AA-A5F2-7D79D92571F8}"/>
              </a:ext>
            </a:extLst>
          </p:cNvPr>
          <p:cNvSpPr txBox="1"/>
          <p:nvPr/>
        </p:nvSpPr>
        <p:spPr>
          <a:xfrm>
            <a:off x="1427825" y="1326600"/>
            <a:ext cx="9336350" cy="3324821"/>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[1] Yahoo Finance v8 Public REST API Specification &amp; Chart Endpoint Documentation (query1.finance.yahoo.com).</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[2] Pearl, Judea. "Causal Inference in Statistics: A Primer." John Wiley &amp; Sons, 2016.</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[3] Markowitz, Harry. "Portfolio Selection." The Journal of Finance, vol. 7, no. 1, 1952, pp. 77–91.</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[4] SEBI (Securities and Exchange Board of India) Issue of Capital and Disclosure Requirements (ICDR) Regulations, 2018.</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[5] Araci, Dogu.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FinBERT</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Financial Sentiment Analysis with Pre-trained Language Models."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arXiv</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preprint arXiv:1908.10063, 2019.</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[6]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Moneycontrol</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Pro &amp; Bloomberg Terminal Real-Time News &amp; Block Deal Wire Data Protocols.</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[7] React 18 &amp; Vite 8 Single Page Application Architecture Guidelines, Meta Open Source.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731520" y="365760"/>
            <a:ext cx="10698480" cy="731520"/>
          </a:xfrm>
          <a:prstGeom prst="rect">
            <a:avLst/>
          </a:prstGeom>
          <a:noFill/>
        </p:spPr>
        <p:txBody>
          <a:bodyPr wrap="none">
            <a:spAutoFit/>
          </a:bodyPr>
          <a:lstStyle/>
          <a:p>
            <a:pPr>
              <a:defRPr sz="2800" b="1">
                <a:solidFill>
                  <a:srgbClr val="002060"/>
                </a:solidFill>
              </a:defRPr>
            </a:pPr>
            <a:r>
              <a:t>System Methodology Flowchart</a:t>
            </a:r>
          </a:p>
        </p:txBody>
      </p:sp>
      <p:pic>
        <p:nvPicPr>
          <p:cNvPr id="7" name="Picture 6" descr="methodology_flowchart.png"/>
          <p:cNvPicPr>
            <a:picLocks noChangeAspect="1"/>
          </p:cNvPicPr>
          <p:nvPr/>
        </p:nvPicPr>
        <p:blipFill>
          <a:blip r:embed="rId2"/>
          <a:stretch>
            <a:fillRect/>
          </a:stretch>
        </p:blipFill>
        <p:spPr>
          <a:xfrm>
            <a:off x="731520" y="1188720"/>
            <a:ext cx="10698480" cy="5943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731520" y="365760"/>
            <a:ext cx="10698480" cy="731520"/>
          </a:xfrm>
          <a:prstGeom prst="rect">
            <a:avLst/>
          </a:prstGeom>
          <a:noFill/>
        </p:spPr>
        <p:txBody>
          <a:bodyPr wrap="none">
            <a:spAutoFit/>
          </a:bodyPr>
          <a:lstStyle/>
          <a:p>
            <a:pPr>
              <a:defRPr sz="2800" b="1">
                <a:solidFill>
                  <a:srgbClr val="C53030"/>
                </a:solidFill>
              </a:defRPr>
            </a:pPr>
            <a:r>
              <a:t>PERT Network Chart &amp; Critical Path Analysis</a:t>
            </a:r>
          </a:p>
        </p:txBody>
      </p:sp>
      <p:pic>
        <p:nvPicPr>
          <p:cNvPr id="7" name="Picture 6" descr="pert_chart.png"/>
          <p:cNvPicPr>
            <a:picLocks noChangeAspect="1"/>
          </p:cNvPicPr>
          <p:nvPr/>
        </p:nvPicPr>
        <p:blipFill>
          <a:blip r:embed="rId2"/>
          <a:stretch>
            <a:fillRect/>
          </a:stretch>
        </p:blipFill>
        <p:spPr>
          <a:xfrm>
            <a:off x="731520" y="1188720"/>
            <a:ext cx="10698480" cy="65379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731520" y="365760"/>
            <a:ext cx="10698480" cy="731520"/>
          </a:xfrm>
          <a:prstGeom prst="rect">
            <a:avLst/>
          </a:prstGeom>
          <a:noFill/>
        </p:spPr>
        <p:txBody>
          <a:bodyPr wrap="none">
            <a:spAutoFit/>
          </a:bodyPr>
          <a:lstStyle/>
          <a:p>
            <a:pPr>
              <a:defRPr sz="2800" b="1">
                <a:solidFill>
                  <a:srgbClr val="002060"/>
                </a:solidFill>
              </a:defRPr>
            </a:pPr>
            <a:r>
              <a:t>System Methodology Flowchart</a:t>
            </a:r>
          </a:p>
        </p:txBody>
      </p:sp>
      <p:pic>
        <p:nvPicPr>
          <p:cNvPr id="7" name="Picture 6" descr="methodology_flowchart.png"/>
          <p:cNvPicPr>
            <a:picLocks noChangeAspect="1"/>
          </p:cNvPicPr>
          <p:nvPr/>
        </p:nvPicPr>
        <p:blipFill>
          <a:blip r:embed="rId2"/>
          <a:stretch>
            <a:fillRect/>
          </a:stretch>
        </p:blipFill>
        <p:spPr>
          <a:xfrm>
            <a:off x="731520" y="1188720"/>
            <a:ext cx="10698480" cy="59436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731520" y="365760"/>
            <a:ext cx="10698480" cy="731520"/>
          </a:xfrm>
          <a:prstGeom prst="rect">
            <a:avLst/>
          </a:prstGeom>
          <a:noFill/>
        </p:spPr>
        <p:txBody>
          <a:bodyPr wrap="none">
            <a:spAutoFit/>
          </a:bodyPr>
          <a:lstStyle/>
          <a:p>
            <a:pPr>
              <a:defRPr sz="2800" b="1">
                <a:solidFill>
                  <a:srgbClr val="C53030"/>
                </a:solidFill>
              </a:defRPr>
            </a:pPr>
            <a:r>
              <a:t>PERT Network Chart &amp; Critical Path Analysis</a:t>
            </a:r>
          </a:p>
        </p:txBody>
      </p:sp>
      <p:pic>
        <p:nvPicPr>
          <p:cNvPr id="7" name="Picture 6" descr="pert_chart.png"/>
          <p:cNvPicPr>
            <a:picLocks noChangeAspect="1"/>
          </p:cNvPicPr>
          <p:nvPr/>
        </p:nvPicPr>
        <p:blipFill>
          <a:blip r:embed="rId2"/>
          <a:stretch>
            <a:fillRect/>
          </a:stretch>
        </p:blipFill>
        <p:spPr>
          <a:xfrm>
            <a:off x="731520" y="1188720"/>
            <a:ext cx="10698480" cy="65379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731520" y="365760"/>
            <a:ext cx="10698480" cy="731520"/>
          </a:xfrm>
          <a:prstGeom prst="rect">
            <a:avLst/>
          </a:prstGeom>
          <a:noFill/>
        </p:spPr>
        <p:txBody>
          <a:bodyPr wrap="none">
            <a:spAutoFit/>
          </a:bodyPr>
          <a:lstStyle/>
          <a:p>
            <a:pPr>
              <a:defRPr sz="2800" b="1">
                <a:solidFill>
                  <a:srgbClr val="002060"/>
                </a:solidFill>
              </a:defRPr>
            </a:pPr>
            <a:r>
              <a:t>System Methodology Flowchart</a:t>
            </a:r>
          </a:p>
        </p:txBody>
      </p:sp>
      <p:pic>
        <p:nvPicPr>
          <p:cNvPr id="7" name="Picture 6" descr="image.png"/>
          <p:cNvPicPr>
            <a:picLocks noChangeAspect="1"/>
          </p:cNvPicPr>
          <p:nvPr/>
        </p:nvPicPr>
        <p:blipFill>
          <a:blip r:embed="rId2"/>
          <a:stretch>
            <a:fillRect/>
          </a:stretch>
        </p:blipFill>
        <p:spPr>
          <a:xfrm>
            <a:off x="731520" y="1188720"/>
            <a:ext cx="10698480" cy="59436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731520" y="365760"/>
            <a:ext cx="10698480" cy="731520"/>
          </a:xfrm>
          <a:prstGeom prst="rect">
            <a:avLst/>
          </a:prstGeom>
          <a:noFill/>
        </p:spPr>
        <p:txBody>
          <a:bodyPr wrap="none">
            <a:spAutoFit/>
          </a:bodyPr>
          <a:lstStyle/>
          <a:p>
            <a:pPr>
              <a:defRPr sz="2800" b="1">
                <a:solidFill>
                  <a:srgbClr val="C53030"/>
                </a:solidFill>
              </a:defRPr>
            </a:pPr>
            <a:r>
              <a:t>PERT Network Chart &amp; Critical Path Analysis</a:t>
            </a:r>
          </a:p>
        </p:txBody>
      </p:sp>
      <p:pic>
        <p:nvPicPr>
          <p:cNvPr id="7" name="Picture 6" descr="pert_chart.png"/>
          <p:cNvPicPr>
            <a:picLocks noChangeAspect="1"/>
          </p:cNvPicPr>
          <p:nvPr/>
        </p:nvPicPr>
        <p:blipFill>
          <a:blip r:embed="rId2"/>
          <a:stretch>
            <a:fillRect/>
          </a:stretch>
        </p:blipFill>
        <p:spPr>
          <a:xfrm>
            <a:off x="731520" y="1188720"/>
            <a:ext cx="10698480" cy="65379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731520" y="365760"/>
            <a:ext cx="10698480" cy="731520"/>
          </a:xfrm>
          <a:prstGeom prst="rect">
            <a:avLst/>
          </a:prstGeom>
          <a:noFill/>
        </p:spPr>
        <p:txBody>
          <a:bodyPr wrap="none">
            <a:spAutoFit/>
          </a:bodyPr>
          <a:lstStyle/>
          <a:p>
            <a:pPr>
              <a:defRPr sz="2800" b="1">
                <a:solidFill>
                  <a:srgbClr val="002060"/>
                </a:solidFill>
              </a:defRPr>
            </a:pPr>
            <a:r>
              <a:t>System Methodology Flowchart</a:t>
            </a:r>
          </a:p>
        </p:txBody>
      </p:sp>
      <p:pic>
        <p:nvPicPr>
          <p:cNvPr id="7" name="Picture 6" descr="image.png"/>
          <p:cNvPicPr>
            <a:picLocks noChangeAspect="1"/>
          </p:cNvPicPr>
          <p:nvPr/>
        </p:nvPicPr>
        <p:blipFill>
          <a:blip r:embed="rId2"/>
          <a:stretch>
            <a:fillRect/>
          </a:stretch>
        </p:blipFill>
        <p:spPr>
          <a:xfrm>
            <a:off x="731520" y="1188720"/>
            <a:ext cx="10698480" cy="59436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731520" y="365760"/>
            <a:ext cx="10698480" cy="731520"/>
          </a:xfrm>
          <a:prstGeom prst="rect">
            <a:avLst/>
          </a:prstGeom>
          <a:noFill/>
        </p:spPr>
        <p:txBody>
          <a:bodyPr wrap="none">
            <a:spAutoFit/>
          </a:bodyPr>
          <a:lstStyle/>
          <a:p>
            <a:pPr>
              <a:defRPr sz="2800" b="1">
                <a:solidFill>
                  <a:srgbClr val="C53030"/>
                </a:solidFill>
              </a:defRPr>
            </a:pPr>
            <a:r>
              <a:t>PERT Network Chart &amp; Critical Path Analysis</a:t>
            </a:r>
          </a:p>
        </p:txBody>
      </p:sp>
      <p:pic>
        <p:nvPicPr>
          <p:cNvPr id="7" name="Picture 6" descr="pert_chart.png"/>
          <p:cNvPicPr>
            <a:picLocks noChangeAspect="1"/>
          </p:cNvPicPr>
          <p:nvPr/>
        </p:nvPicPr>
        <p:blipFill>
          <a:blip r:embed="rId2"/>
          <a:stretch>
            <a:fillRect/>
          </a:stretch>
        </p:blipFill>
        <p:spPr>
          <a:xfrm>
            <a:off x="731520" y="1188720"/>
            <a:ext cx="10698480" cy="6686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8625</TotalTime>
  <Words>1541</Words>
  <Application>Microsoft Office PowerPoint</Application>
  <PresentationFormat>Widescreen</PresentationFormat>
  <Paragraphs>127</Paragraphs>
  <Slides>14</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14</vt:i4>
      </vt:variant>
    </vt:vector>
  </HeadingPairs>
  <TitlesOfParts>
    <vt:vector size="22" baseType="lpstr">
      <vt:lpstr>Arial</vt:lpstr>
      <vt:lpstr>Calibri</vt:lpstr>
      <vt:lpstr>Symbol</vt:lpstr>
      <vt:lpstr>Times New Roman</vt:lpstr>
      <vt:lpstr>Wingdings</vt:lpstr>
      <vt:lpstr>Office Theme</vt:lpstr>
      <vt:lpstr>Office Theme</vt:lpstr>
      <vt:lpstr>Office Theme</vt:lpstr>
      <vt:lpstr>PowerPoint Presentation</vt:lpstr>
      <vt:lpstr>VITTIYA: AI-Powered Real-Time Financial Intelligence, Causal Risk Analytics &amp; Institutional Market Terminal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Strengthen the embankments</dc:title>
  <dc:subject/>
  <dc:creator>Apple 2</dc:creator>
  <dc:description/>
  <cp:lastModifiedBy>Ishita Pradhan</cp:lastModifiedBy>
  <cp:revision>665</cp:revision>
  <cp:lastPrinted>2017-08-16T11:40:20Z</cp:lastPrinted>
  <dcterms:created xsi:type="dcterms:W3CDTF">2017-08-14T08:34:40Z</dcterms:created>
  <dcterms:modified xsi:type="dcterms:W3CDTF">2026-08-20T18:30:42Z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i4>11</vt:i4>
  </property>
</Properties>
</file>